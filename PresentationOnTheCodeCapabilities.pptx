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87" r:id="rId4"/>
    <p:sldId id="286" r:id="rId5"/>
    <p:sldId id="261" r:id="rId6"/>
    <p:sldId id="262" r:id="rId7"/>
    <p:sldId id="289" r:id="rId8"/>
    <p:sldId id="288" r:id="rId9"/>
    <p:sldId id="290" r:id="rId10"/>
    <p:sldId id="267" r:id="rId11"/>
    <p:sldId id="268" r:id="rId12"/>
    <p:sldId id="311" r:id="rId13"/>
    <p:sldId id="270" r:id="rId14"/>
    <p:sldId id="271" r:id="rId15"/>
    <p:sldId id="332" r:id="rId16"/>
    <p:sldId id="274" r:id="rId17"/>
    <p:sldId id="292" r:id="rId18"/>
    <p:sldId id="293" r:id="rId19"/>
    <p:sldId id="297" r:id="rId20"/>
    <p:sldId id="298" r:id="rId21"/>
    <p:sldId id="299" r:id="rId22"/>
    <p:sldId id="276" r:id="rId23"/>
    <p:sldId id="277" r:id="rId24"/>
    <p:sldId id="278" r:id="rId25"/>
    <p:sldId id="279" r:id="rId26"/>
    <p:sldId id="296" r:id="rId27"/>
    <p:sldId id="312" r:id="rId28"/>
    <p:sldId id="301" r:id="rId29"/>
    <p:sldId id="302" r:id="rId30"/>
    <p:sldId id="314" r:id="rId31"/>
    <p:sldId id="315" r:id="rId32"/>
    <p:sldId id="303" r:id="rId33"/>
    <p:sldId id="304" r:id="rId34"/>
    <p:sldId id="313" r:id="rId35"/>
    <p:sldId id="333" r:id="rId36"/>
    <p:sldId id="305" r:id="rId37"/>
    <p:sldId id="316" r:id="rId38"/>
    <p:sldId id="317" r:id="rId39"/>
    <p:sldId id="318" r:id="rId40"/>
    <p:sldId id="319" r:id="rId41"/>
    <p:sldId id="320" r:id="rId42"/>
    <p:sldId id="321" r:id="rId43"/>
    <p:sldId id="322" r:id="rId44"/>
    <p:sldId id="323" r:id="rId45"/>
    <p:sldId id="324" r:id="rId46"/>
    <p:sldId id="325" r:id="rId47"/>
    <p:sldId id="326" r:id="rId48"/>
    <p:sldId id="327" r:id="rId49"/>
    <p:sldId id="331" r:id="rId50"/>
    <p:sldId id="260"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24" autoAdjust="0"/>
    <p:restoredTop sz="99642" autoAdjust="0"/>
  </p:normalViewPr>
  <p:slideViewPr>
    <p:cSldViewPr>
      <p:cViewPr varScale="1">
        <p:scale>
          <a:sx n="81" d="100"/>
          <a:sy n="81" d="100"/>
        </p:scale>
        <p:origin x="1409" y="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oleObject" Target="file:///C:\Users\Nirmal\Desktop\graph1.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Nirmal\Desktop\graph1.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Nirmal\Desktop\graph1.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Nirmal\Desktop\shellht.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Nirmal\Desktop\graph1.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Nirmal\Desktop\graph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v>FEM</c:v>
          </c:tx>
          <c:marker>
            <c:symbol val="square"/>
            <c:size val="7"/>
            <c:spPr>
              <a:solidFill>
                <a:schemeClr val="accent1"/>
              </a:solidFill>
            </c:spPr>
          </c:marker>
          <c:cat>
            <c:numRef>
              <c:f>Sheet1!$D$39:$D$47</c:f>
              <c:numCache>
                <c:formatCode>General</c:formatCode>
                <c:ptCount val="9"/>
                <c:pt idx="0">
                  <c:v>0</c:v>
                </c:pt>
                <c:pt idx="1">
                  <c:v>0.1</c:v>
                </c:pt>
                <c:pt idx="2">
                  <c:v>0.30000000000000032</c:v>
                </c:pt>
                <c:pt idx="3">
                  <c:v>0.4</c:v>
                </c:pt>
                <c:pt idx="4">
                  <c:v>0.5</c:v>
                </c:pt>
                <c:pt idx="5">
                  <c:v>0.60000000000000064</c:v>
                </c:pt>
                <c:pt idx="6">
                  <c:v>0.70000000000000062</c:v>
                </c:pt>
                <c:pt idx="7">
                  <c:v>0.9</c:v>
                </c:pt>
                <c:pt idx="8">
                  <c:v>1</c:v>
                </c:pt>
              </c:numCache>
            </c:numRef>
          </c:cat>
          <c:val>
            <c:numRef>
              <c:f>Sheet1!$C$39:$C$47</c:f>
              <c:numCache>
                <c:formatCode>General</c:formatCode>
                <c:ptCount val="9"/>
                <c:pt idx="0">
                  <c:v>295.61</c:v>
                </c:pt>
                <c:pt idx="1">
                  <c:v>292.25</c:v>
                </c:pt>
                <c:pt idx="2">
                  <c:v>282.36</c:v>
                </c:pt>
                <c:pt idx="3">
                  <c:v>265.62</c:v>
                </c:pt>
                <c:pt idx="4">
                  <c:v>241.04</c:v>
                </c:pt>
                <c:pt idx="5">
                  <c:v>208.41</c:v>
                </c:pt>
                <c:pt idx="6">
                  <c:v>166.43</c:v>
                </c:pt>
                <c:pt idx="7">
                  <c:v>114.06</c:v>
                </c:pt>
                <c:pt idx="8">
                  <c:v>50</c:v>
                </c:pt>
              </c:numCache>
            </c:numRef>
          </c:val>
          <c:smooth val="0"/>
          <c:extLst>
            <c:ext xmlns:c16="http://schemas.microsoft.com/office/drawing/2014/chart" uri="{C3380CC4-5D6E-409C-BE32-E72D297353CC}">
              <c16:uniqueId val="{00000000-72EB-4646-A88B-B795F0D274A5}"/>
            </c:ext>
          </c:extLst>
        </c:ser>
        <c:ser>
          <c:idx val="1"/>
          <c:order val="1"/>
          <c:tx>
            <c:v>kari</c:v>
          </c:tx>
          <c:val>
            <c:numRef>
              <c:f>Sheet1!$E$39:$E$47</c:f>
              <c:numCache>
                <c:formatCode>General</c:formatCode>
                <c:ptCount val="9"/>
                <c:pt idx="0">
                  <c:v>300</c:v>
                </c:pt>
                <c:pt idx="1">
                  <c:v>290</c:v>
                </c:pt>
                <c:pt idx="2">
                  <c:v>280</c:v>
                </c:pt>
                <c:pt idx="3">
                  <c:v>260</c:v>
                </c:pt>
                <c:pt idx="4">
                  <c:v>240</c:v>
                </c:pt>
                <c:pt idx="5">
                  <c:v>208</c:v>
                </c:pt>
                <c:pt idx="6">
                  <c:v>165</c:v>
                </c:pt>
                <c:pt idx="7">
                  <c:v>110</c:v>
                </c:pt>
                <c:pt idx="8">
                  <c:v>50</c:v>
                </c:pt>
              </c:numCache>
            </c:numRef>
          </c:val>
          <c:smooth val="0"/>
          <c:extLst>
            <c:ext xmlns:c16="http://schemas.microsoft.com/office/drawing/2014/chart" uri="{C3380CC4-5D6E-409C-BE32-E72D297353CC}">
              <c16:uniqueId val="{00000001-72EB-4646-A88B-B795F0D274A5}"/>
            </c:ext>
          </c:extLst>
        </c:ser>
        <c:dLbls>
          <c:showLegendKey val="0"/>
          <c:showVal val="0"/>
          <c:showCatName val="0"/>
          <c:showSerName val="0"/>
          <c:showPercent val="0"/>
          <c:showBubbleSize val="0"/>
        </c:dLbls>
        <c:marker val="1"/>
        <c:smooth val="0"/>
        <c:axId val="141233152"/>
        <c:axId val="141235328"/>
      </c:lineChart>
      <c:catAx>
        <c:axId val="141233152"/>
        <c:scaling>
          <c:orientation val="minMax"/>
        </c:scaling>
        <c:delete val="0"/>
        <c:axPos val="b"/>
        <c:title>
          <c:tx>
            <c:rich>
              <a:bodyPr/>
              <a:lstStyle/>
              <a:p>
                <a:pPr>
                  <a:defRPr/>
                </a:pPr>
                <a:r>
                  <a:rPr lang="en-US"/>
                  <a:t>2X/a</a:t>
                </a:r>
              </a:p>
            </c:rich>
          </c:tx>
          <c:overlay val="0"/>
        </c:title>
        <c:numFmt formatCode="General" sourceLinked="1"/>
        <c:majorTickMark val="out"/>
        <c:minorTickMark val="none"/>
        <c:tickLblPos val="nextTo"/>
        <c:crossAx val="141235328"/>
        <c:crosses val="autoZero"/>
        <c:auto val="1"/>
        <c:lblAlgn val="ctr"/>
        <c:lblOffset val="100"/>
        <c:tickLblSkip val="1"/>
        <c:noMultiLvlLbl val="0"/>
      </c:catAx>
      <c:valAx>
        <c:axId val="141235328"/>
        <c:scaling>
          <c:orientation val="minMax"/>
        </c:scaling>
        <c:delete val="0"/>
        <c:axPos val="l"/>
        <c:majorGridlines/>
        <c:title>
          <c:tx>
            <c:rich>
              <a:bodyPr rot="-5400000" vert="horz"/>
              <a:lstStyle/>
              <a:p>
                <a:pPr>
                  <a:defRPr/>
                </a:pPr>
                <a:r>
                  <a:rPr lang="en-US"/>
                  <a:t>Temperature(*C)</a:t>
                </a:r>
              </a:p>
            </c:rich>
          </c:tx>
          <c:overlay val="0"/>
        </c:title>
        <c:numFmt formatCode="General" sourceLinked="1"/>
        <c:majorTickMark val="out"/>
        <c:minorTickMark val="none"/>
        <c:tickLblPos val="nextTo"/>
        <c:crossAx val="141233152"/>
        <c:crosses val="autoZero"/>
        <c:crossBetween val="between"/>
      </c:valAx>
    </c:plotArea>
    <c:legend>
      <c:legendPos val="r"/>
      <c:overlay val="0"/>
    </c:legend>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v>FEM</c:v>
          </c:tx>
          <c:cat>
            <c:numRef>
              <c:f>Sheet1!$E$1:$E$9</c:f>
              <c:numCache>
                <c:formatCode>General</c:formatCode>
                <c:ptCount val="9"/>
                <c:pt idx="0">
                  <c:v>0</c:v>
                </c:pt>
                <c:pt idx="1">
                  <c:v>0.1</c:v>
                </c:pt>
                <c:pt idx="2">
                  <c:v>0.2</c:v>
                </c:pt>
                <c:pt idx="3">
                  <c:v>0.30000000000000032</c:v>
                </c:pt>
                <c:pt idx="4">
                  <c:v>0.4</c:v>
                </c:pt>
                <c:pt idx="5">
                  <c:v>0.60000000000000064</c:v>
                </c:pt>
                <c:pt idx="6">
                  <c:v>0.70000000000000062</c:v>
                </c:pt>
                <c:pt idx="7">
                  <c:v>0.9</c:v>
                </c:pt>
                <c:pt idx="8">
                  <c:v>1</c:v>
                </c:pt>
              </c:numCache>
            </c:numRef>
          </c:cat>
          <c:val>
            <c:numRef>
              <c:f>Sheet1!$C$1:$C$9</c:f>
              <c:numCache>
                <c:formatCode>General</c:formatCode>
                <c:ptCount val="9"/>
                <c:pt idx="0">
                  <c:v>66.5</c:v>
                </c:pt>
                <c:pt idx="1">
                  <c:v>66</c:v>
                </c:pt>
                <c:pt idx="2">
                  <c:v>64.53</c:v>
                </c:pt>
                <c:pt idx="3">
                  <c:v>62.04</c:v>
                </c:pt>
                <c:pt idx="4">
                  <c:v>58.39</c:v>
                </c:pt>
                <c:pt idx="5">
                  <c:v>53.54</c:v>
                </c:pt>
                <c:pt idx="6">
                  <c:v>47.3</c:v>
                </c:pt>
                <c:pt idx="7">
                  <c:v>39.520000000000003</c:v>
                </c:pt>
                <c:pt idx="8">
                  <c:v>30</c:v>
                </c:pt>
              </c:numCache>
            </c:numRef>
          </c:val>
          <c:smooth val="0"/>
          <c:extLst>
            <c:ext xmlns:c16="http://schemas.microsoft.com/office/drawing/2014/chart" uri="{C3380CC4-5D6E-409C-BE32-E72D297353CC}">
              <c16:uniqueId val="{00000000-549F-4DB7-A880-B7A2C5AB33D7}"/>
            </c:ext>
          </c:extLst>
        </c:ser>
        <c:ser>
          <c:idx val="1"/>
          <c:order val="1"/>
          <c:tx>
            <c:v> Kari</c:v>
          </c:tx>
          <c:spPr>
            <a:ln w="0">
              <a:prstDash val="sysDash"/>
            </a:ln>
          </c:spPr>
          <c:marker>
            <c:symbol val="star"/>
            <c:size val="7"/>
            <c:spPr>
              <a:noFill/>
            </c:spPr>
          </c:marker>
          <c:cat>
            <c:numRef>
              <c:f>Sheet1!$E$1:$E$9</c:f>
              <c:numCache>
                <c:formatCode>General</c:formatCode>
                <c:ptCount val="9"/>
                <c:pt idx="0">
                  <c:v>0</c:v>
                </c:pt>
                <c:pt idx="1">
                  <c:v>0.1</c:v>
                </c:pt>
                <c:pt idx="2">
                  <c:v>0.2</c:v>
                </c:pt>
                <c:pt idx="3">
                  <c:v>0.30000000000000032</c:v>
                </c:pt>
                <c:pt idx="4">
                  <c:v>0.4</c:v>
                </c:pt>
                <c:pt idx="5">
                  <c:v>0.60000000000000064</c:v>
                </c:pt>
                <c:pt idx="6">
                  <c:v>0.70000000000000062</c:v>
                </c:pt>
                <c:pt idx="7">
                  <c:v>0.9</c:v>
                </c:pt>
                <c:pt idx="8">
                  <c:v>1</c:v>
                </c:pt>
              </c:numCache>
            </c:numRef>
          </c:cat>
          <c:val>
            <c:numRef>
              <c:f>Sheet1!$D$1:$D$9</c:f>
              <c:numCache>
                <c:formatCode>General</c:formatCode>
                <c:ptCount val="9"/>
                <c:pt idx="0">
                  <c:v>66</c:v>
                </c:pt>
                <c:pt idx="1">
                  <c:v>65</c:v>
                </c:pt>
                <c:pt idx="2">
                  <c:v>64</c:v>
                </c:pt>
                <c:pt idx="3">
                  <c:v>62</c:v>
                </c:pt>
                <c:pt idx="4">
                  <c:v>58</c:v>
                </c:pt>
                <c:pt idx="5">
                  <c:v>53</c:v>
                </c:pt>
                <c:pt idx="6">
                  <c:v>47</c:v>
                </c:pt>
                <c:pt idx="7">
                  <c:v>39</c:v>
                </c:pt>
                <c:pt idx="8">
                  <c:v>30</c:v>
                </c:pt>
              </c:numCache>
            </c:numRef>
          </c:val>
          <c:smooth val="0"/>
          <c:extLst>
            <c:ext xmlns:c16="http://schemas.microsoft.com/office/drawing/2014/chart" uri="{C3380CC4-5D6E-409C-BE32-E72D297353CC}">
              <c16:uniqueId val="{00000001-549F-4DB7-A880-B7A2C5AB33D7}"/>
            </c:ext>
          </c:extLst>
        </c:ser>
        <c:dLbls>
          <c:showLegendKey val="0"/>
          <c:showVal val="0"/>
          <c:showCatName val="0"/>
          <c:showSerName val="0"/>
          <c:showPercent val="0"/>
          <c:showBubbleSize val="0"/>
        </c:dLbls>
        <c:marker val="1"/>
        <c:smooth val="0"/>
        <c:axId val="141256192"/>
        <c:axId val="141258752"/>
      </c:lineChart>
      <c:catAx>
        <c:axId val="141256192"/>
        <c:scaling>
          <c:orientation val="minMax"/>
        </c:scaling>
        <c:delete val="0"/>
        <c:axPos val="b"/>
        <c:title>
          <c:tx>
            <c:rich>
              <a:bodyPr/>
              <a:lstStyle/>
              <a:p>
                <a:pPr>
                  <a:defRPr/>
                </a:pPr>
                <a:r>
                  <a:rPr lang="en-US"/>
                  <a:t>2X/a</a:t>
                </a:r>
              </a:p>
            </c:rich>
          </c:tx>
          <c:overlay val="0"/>
        </c:title>
        <c:numFmt formatCode="General" sourceLinked="1"/>
        <c:majorTickMark val="out"/>
        <c:minorTickMark val="none"/>
        <c:tickLblPos val="nextTo"/>
        <c:crossAx val="141258752"/>
        <c:crosses val="autoZero"/>
        <c:auto val="0"/>
        <c:lblAlgn val="ctr"/>
        <c:lblOffset val="100"/>
        <c:noMultiLvlLbl val="0"/>
      </c:catAx>
      <c:valAx>
        <c:axId val="141258752"/>
        <c:scaling>
          <c:orientation val="minMax"/>
          <c:min val="30"/>
        </c:scaling>
        <c:delete val="0"/>
        <c:axPos val="l"/>
        <c:majorGridlines/>
        <c:title>
          <c:tx>
            <c:rich>
              <a:bodyPr rot="-5400000" vert="horz"/>
              <a:lstStyle/>
              <a:p>
                <a:pPr>
                  <a:defRPr/>
                </a:pPr>
                <a:r>
                  <a:rPr lang="en-US"/>
                  <a:t>Temperature (*c)</a:t>
                </a:r>
              </a:p>
            </c:rich>
          </c:tx>
          <c:overlay val="0"/>
        </c:title>
        <c:numFmt formatCode="General" sourceLinked="1"/>
        <c:majorTickMark val="out"/>
        <c:minorTickMark val="none"/>
        <c:tickLblPos val="nextTo"/>
        <c:crossAx val="141256192"/>
        <c:crosses val="autoZero"/>
        <c:crossBetween val="between"/>
      </c:valAx>
    </c:plotArea>
    <c:legend>
      <c:legendPos val="r"/>
      <c:overlay val="0"/>
    </c:legend>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v>FEM</c:v>
          </c:tx>
          <c:spPr>
            <a:ln w="34925"/>
          </c:spPr>
          <c:marker>
            <c:symbol val="diamond"/>
            <c:size val="11"/>
          </c:marker>
          <c:cat>
            <c:numRef>
              <c:f>Sheet1!$E$25:$E$33</c:f>
              <c:numCache>
                <c:formatCode>General</c:formatCode>
                <c:ptCount val="9"/>
                <c:pt idx="0">
                  <c:v>0</c:v>
                </c:pt>
                <c:pt idx="1">
                  <c:v>0.1</c:v>
                </c:pt>
                <c:pt idx="2">
                  <c:v>0.30000000000000032</c:v>
                </c:pt>
                <c:pt idx="3">
                  <c:v>0.5</c:v>
                </c:pt>
                <c:pt idx="4">
                  <c:v>0.60000000000000064</c:v>
                </c:pt>
                <c:pt idx="5">
                  <c:v>0.70000000000000062</c:v>
                </c:pt>
                <c:pt idx="6">
                  <c:v>0.8</c:v>
                </c:pt>
                <c:pt idx="7">
                  <c:v>0.9</c:v>
                </c:pt>
                <c:pt idx="8">
                  <c:v>1</c:v>
                </c:pt>
              </c:numCache>
            </c:numRef>
          </c:cat>
          <c:val>
            <c:numRef>
              <c:f>Sheet1!$C$25:$C$33</c:f>
              <c:numCache>
                <c:formatCode>General</c:formatCode>
                <c:ptCount val="9"/>
                <c:pt idx="0">
                  <c:v>3555.53</c:v>
                </c:pt>
                <c:pt idx="1">
                  <c:v>3507.25</c:v>
                </c:pt>
                <c:pt idx="2">
                  <c:v>3365.3100000000022</c:v>
                </c:pt>
                <c:pt idx="3">
                  <c:v>3125.04</c:v>
                </c:pt>
                <c:pt idx="4">
                  <c:v>2772.22</c:v>
                </c:pt>
                <c:pt idx="5">
                  <c:v>2303.7599999999998</c:v>
                </c:pt>
                <c:pt idx="6">
                  <c:v>1701.28</c:v>
                </c:pt>
                <c:pt idx="7">
                  <c:v>949.59</c:v>
                </c:pt>
                <c:pt idx="8">
                  <c:v>30</c:v>
                </c:pt>
              </c:numCache>
            </c:numRef>
          </c:val>
          <c:smooth val="0"/>
          <c:extLst>
            <c:ext xmlns:c16="http://schemas.microsoft.com/office/drawing/2014/chart" uri="{C3380CC4-5D6E-409C-BE32-E72D297353CC}">
              <c16:uniqueId val="{00000000-4ACA-4AF3-A270-3E8E356F4A65}"/>
            </c:ext>
          </c:extLst>
        </c:ser>
        <c:ser>
          <c:idx val="1"/>
          <c:order val="1"/>
          <c:tx>
            <c:v>Kari</c:v>
          </c:tx>
          <c:spPr>
            <a:ln w="0">
              <a:solidFill>
                <a:srgbClr val="FF0000"/>
              </a:solidFill>
              <a:prstDash val="dash"/>
            </a:ln>
          </c:spPr>
          <c:marker>
            <c:symbol val="star"/>
            <c:size val="5"/>
          </c:marker>
          <c:cat>
            <c:numRef>
              <c:f>Sheet1!$E$25:$E$33</c:f>
              <c:numCache>
                <c:formatCode>General</c:formatCode>
                <c:ptCount val="9"/>
                <c:pt idx="0">
                  <c:v>0</c:v>
                </c:pt>
                <c:pt idx="1">
                  <c:v>0.1</c:v>
                </c:pt>
                <c:pt idx="2">
                  <c:v>0.30000000000000032</c:v>
                </c:pt>
                <c:pt idx="3">
                  <c:v>0.5</c:v>
                </c:pt>
                <c:pt idx="4">
                  <c:v>0.60000000000000064</c:v>
                </c:pt>
                <c:pt idx="5">
                  <c:v>0.70000000000000062</c:v>
                </c:pt>
                <c:pt idx="6">
                  <c:v>0.8</c:v>
                </c:pt>
                <c:pt idx="7">
                  <c:v>0.9</c:v>
                </c:pt>
                <c:pt idx="8">
                  <c:v>1</c:v>
                </c:pt>
              </c:numCache>
            </c:numRef>
          </c:cat>
          <c:val>
            <c:numRef>
              <c:f>Sheet1!$D$25:$D$33</c:f>
              <c:numCache>
                <c:formatCode>General</c:formatCode>
                <c:ptCount val="9"/>
                <c:pt idx="0">
                  <c:v>3500</c:v>
                </c:pt>
                <c:pt idx="1">
                  <c:v>3490</c:v>
                </c:pt>
                <c:pt idx="2">
                  <c:v>3300</c:v>
                </c:pt>
                <c:pt idx="3">
                  <c:v>3100</c:v>
                </c:pt>
                <c:pt idx="4">
                  <c:v>2780</c:v>
                </c:pt>
                <c:pt idx="5">
                  <c:v>2300</c:v>
                </c:pt>
                <c:pt idx="6">
                  <c:v>1680</c:v>
                </c:pt>
                <c:pt idx="7">
                  <c:v>1000</c:v>
                </c:pt>
                <c:pt idx="8">
                  <c:v>30</c:v>
                </c:pt>
              </c:numCache>
            </c:numRef>
          </c:val>
          <c:smooth val="0"/>
          <c:extLst>
            <c:ext xmlns:c16="http://schemas.microsoft.com/office/drawing/2014/chart" uri="{C3380CC4-5D6E-409C-BE32-E72D297353CC}">
              <c16:uniqueId val="{00000001-4ACA-4AF3-A270-3E8E356F4A65}"/>
            </c:ext>
          </c:extLst>
        </c:ser>
        <c:dLbls>
          <c:showLegendKey val="0"/>
          <c:showVal val="0"/>
          <c:showCatName val="0"/>
          <c:showSerName val="0"/>
          <c:showPercent val="0"/>
          <c:showBubbleSize val="0"/>
        </c:dLbls>
        <c:marker val="1"/>
        <c:smooth val="0"/>
        <c:axId val="141169408"/>
        <c:axId val="141171328"/>
      </c:lineChart>
      <c:catAx>
        <c:axId val="141169408"/>
        <c:scaling>
          <c:orientation val="minMax"/>
        </c:scaling>
        <c:delete val="0"/>
        <c:axPos val="b"/>
        <c:title>
          <c:tx>
            <c:rich>
              <a:bodyPr/>
              <a:lstStyle/>
              <a:p>
                <a:pPr>
                  <a:defRPr/>
                </a:pPr>
                <a:r>
                  <a:rPr lang="en-US"/>
                  <a:t>2X/a</a:t>
                </a:r>
              </a:p>
            </c:rich>
          </c:tx>
          <c:overlay val="0"/>
        </c:title>
        <c:numFmt formatCode="General" sourceLinked="1"/>
        <c:majorTickMark val="out"/>
        <c:minorTickMark val="none"/>
        <c:tickLblPos val="nextTo"/>
        <c:crossAx val="141171328"/>
        <c:crosses val="autoZero"/>
        <c:auto val="1"/>
        <c:lblAlgn val="ctr"/>
        <c:lblOffset val="100"/>
        <c:noMultiLvlLbl val="0"/>
      </c:catAx>
      <c:valAx>
        <c:axId val="141171328"/>
        <c:scaling>
          <c:orientation val="minMax"/>
          <c:min val="30"/>
        </c:scaling>
        <c:delete val="0"/>
        <c:axPos val="l"/>
        <c:majorGridlines/>
        <c:title>
          <c:tx>
            <c:rich>
              <a:bodyPr rot="-5400000" vert="horz"/>
              <a:lstStyle/>
              <a:p>
                <a:pPr>
                  <a:defRPr/>
                </a:pPr>
                <a:r>
                  <a:rPr lang="en-US"/>
                  <a:t>Temperature(*C)</a:t>
                </a:r>
              </a:p>
            </c:rich>
          </c:tx>
          <c:overlay val="0"/>
        </c:title>
        <c:numFmt formatCode="General" sourceLinked="1"/>
        <c:majorTickMark val="out"/>
        <c:minorTickMark val="none"/>
        <c:tickLblPos val="nextTo"/>
        <c:crossAx val="141169408"/>
        <c:crosses val="autoZero"/>
        <c:crossBetween val="between"/>
      </c:valAx>
    </c:plotArea>
    <c:legend>
      <c:legendPos val="r"/>
      <c:overlay val="0"/>
    </c:legend>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smoothMarker"/>
        <c:varyColors val="0"/>
        <c:ser>
          <c:idx val="0"/>
          <c:order val="0"/>
          <c:tx>
            <c:v>r=10.2 (case a)</c:v>
          </c:tx>
          <c:xVal>
            <c:numRef>
              <c:f>Sheet1!$B$27:$B$39</c:f>
              <c:numCache>
                <c:formatCode>General</c:formatCode>
                <c:ptCount val="13"/>
                <c:pt idx="0">
                  <c:v>0</c:v>
                </c:pt>
                <c:pt idx="1">
                  <c:v>0.5</c:v>
                </c:pt>
                <c:pt idx="2">
                  <c:v>1</c:v>
                </c:pt>
                <c:pt idx="3">
                  <c:v>1.5</c:v>
                </c:pt>
                <c:pt idx="4">
                  <c:v>2</c:v>
                </c:pt>
                <c:pt idx="5">
                  <c:v>2.5</c:v>
                </c:pt>
                <c:pt idx="6">
                  <c:v>3</c:v>
                </c:pt>
                <c:pt idx="7">
                  <c:v>3.5</c:v>
                </c:pt>
                <c:pt idx="8">
                  <c:v>4</c:v>
                </c:pt>
                <c:pt idx="9">
                  <c:v>4.5</c:v>
                </c:pt>
                <c:pt idx="10">
                  <c:v>5</c:v>
                </c:pt>
                <c:pt idx="11">
                  <c:v>5.5</c:v>
                </c:pt>
                <c:pt idx="12">
                  <c:v>6</c:v>
                </c:pt>
              </c:numCache>
            </c:numRef>
          </c:xVal>
          <c:yVal>
            <c:numRef>
              <c:f>Sheet1!$C$27:$C$39</c:f>
              <c:numCache>
                <c:formatCode>General</c:formatCode>
                <c:ptCount val="13"/>
                <c:pt idx="0">
                  <c:v>0</c:v>
                </c:pt>
                <c:pt idx="1">
                  <c:v>46.341999999999999</c:v>
                </c:pt>
                <c:pt idx="2">
                  <c:v>66.065000000000012</c:v>
                </c:pt>
                <c:pt idx="3">
                  <c:v>74.455000000000013</c:v>
                </c:pt>
                <c:pt idx="4">
                  <c:v>78.024999999999991</c:v>
                </c:pt>
                <c:pt idx="5">
                  <c:v>79.543000000000006</c:v>
                </c:pt>
                <c:pt idx="6">
                  <c:v>80.188999999999979</c:v>
                </c:pt>
                <c:pt idx="7">
                  <c:v>80.462999999999994</c:v>
                </c:pt>
                <c:pt idx="8">
                  <c:v>80.58</c:v>
                </c:pt>
                <c:pt idx="9">
                  <c:v>80.63</c:v>
                </c:pt>
                <c:pt idx="10">
                  <c:v>80.649999999999991</c:v>
                </c:pt>
                <c:pt idx="11">
                  <c:v>80.658999999999978</c:v>
                </c:pt>
                <c:pt idx="12">
                  <c:v>80.661000000000001</c:v>
                </c:pt>
              </c:numCache>
            </c:numRef>
          </c:yVal>
          <c:smooth val="1"/>
          <c:extLst>
            <c:ext xmlns:c16="http://schemas.microsoft.com/office/drawing/2014/chart" uri="{C3380CC4-5D6E-409C-BE32-E72D297353CC}">
              <c16:uniqueId val="{00000000-7F08-4C7F-9C70-F939B5273F7B}"/>
            </c:ext>
          </c:extLst>
        </c:ser>
        <c:ser>
          <c:idx val="1"/>
          <c:order val="1"/>
          <c:tx>
            <c:v>r=10.4 (case a)</c:v>
          </c:tx>
          <c:xVal>
            <c:numRef>
              <c:f>Sheet1!$B$27:$B$39</c:f>
              <c:numCache>
                <c:formatCode>General</c:formatCode>
                <c:ptCount val="13"/>
                <c:pt idx="0">
                  <c:v>0</c:v>
                </c:pt>
                <c:pt idx="1">
                  <c:v>0.5</c:v>
                </c:pt>
                <c:pt idx="2">
                  <c:v>1</c:v>
                </c:pt>
                <c:pt idx="3">
                  <c:v>1.5</c:v>
                </c:pt>
                <c:pt idx="4">
                  <c:v>2</c:v>
                </c:pt>
                <c:pt idx="5">
                  <c:v>2.5</c:v>
                </c:pt>
                <c:pt idx="6">
                  <c:v>3</c:v>
                </c:pt>
                <c:pt idx="7">
                  <c:v>3.5</c:v>
                </c:pt>
                <c:pt idx="8">
                  <c:v>4</c:v>
                </c:pt>
                <c:pt idx="9">
                  <c:v>4.5</c:v>
                </c:pt>
                <c:pt idx="10">
                  <c:v>5</c:v>
                </c:pt>
                <c:pt idx="11">
                  <c:v>5.5</c:v>
                </c:pt>
                <c:pt idx="12">
                  <c:v>6</c:v>
                </c:pt>
              </c:numCache>
            </c:numRef>
          </c:xVal>
          <c:yVal>
            <c:numRef>
              <c:f>Sheet1!$D$27:$D$39</c:f>
              <c:numCache>
                <c:formatCode>General</c:formatCode>
                <c:ptCount val="13"/>
                <c:pt idx="0">
                  <c:v>0</c:v>
                </c:pt>
                <c:pt idx="1">
                  <c:v>39.935000000000002</c:v>
                </c:pt>
                <c:pt idx="2">
                  <c:v>57.184000000000005</c:v>
                </c:pt>
                <c:pt idx="3">
                  <c:v>64.546000000000006</c:v>
                </c:pt>
                <c:pt idx="4">
                  <c:v>67.679999999999978</c:v>
                </c:pt>
                <c:pt idx="5">
                  <c:v>69.013000000000005</c:v>
                </c:pt>
                <c:pt idx="6">
                  <c:v>69.58</c:v>
                </c:pt>
                <c:pt idx="7">
                  <c:v>69.820999999999998</c:v>
                </c:pt>
                <c:pt idx="8">
                  <c:v>69.924000000000007</c:v>
                </c:pt>
                <c:pt idx="9">
                  <c:v>69.967000000000027</c:v>
                </c:pt>
                <c:pt idx="10">
                  <c:v>69.986000000000004</c:v>
                </c:pt>
                <c:pt idx="11">
                  <c:v>69.992999999999995</c:v>
                </c:pt>
                <c:pt idx="12">
                  <c:v>69.995000000000005</c:v>
                </c:pt>
              </c:numCache>
            </c:numRef>
          </c:yVal>
          <c:smooth val="1"/>
          <c:extLst>
            <c:ext xmlns:c16="http://schemas.microsoft.com/office/drawing/2014/chart" uri="{C3380CC4-5D6E-409C-BE32-E72D297353CC}">
              <c16:uniqueId val="{00000001-7F08-4C7F-9C70-F939B5273F7B}"/>
            </c:ext>
          </c:extLst>
        </c:ser>
        <c:ser>
          <c:idx val="2"/>
          <c:order val="2"/>
          <c:tx>
            <c:v>r=10 (case a)</c:v>
          </c:tx>
          <c:xVal>
            <c:numRef>
              <c:f>Sheet1!$B$27:$B$39</c:f>
              <c:numCache>
                <c:formatCode>General</c:formatCode>
                <c:ptCount val="13"/>
                <c:pt idx="0">
                  <c:v>0</c:v>
                </c:pt>
                <c:pt idx="1">
                  <c:v>0.5</c:v>
                </c:pt>
                <c:pt idx="2">
                  <c:v>1</c:v>
                </c:pt>
                <c:pt idx="3">
                  <c:v>1.5</c:v>
                </c:pt>
                <c:pt idx="4">
                  <c:v>2</c:v>
                </c:pt>
                <c:pt idx="5">
                  <c:v>2.5</c:v>
                </c:pt>
                <c:pt idx="6">
                  <c:v>3</c:v>
                </c:pt>
                <c:pt idx="7">
                  <c:v>3.5</c:v>
                </c:pt>
                <c:pt idx="8">
                  <c:v>4</c:v>
                </c:pt>
                <c:pt idx="9">
                  <c:v>4.5</c:v>
                </c:pt>
                <c:pt idx="10">
                  <c:v>5</c:v>
                </c:pt>
                <c:pt idx="11">
                  <c:v>5.5</c:v>
                </c:pt>
                <c:pt idx="12">
                  <c:v>6</c:v>
                </c:pt>
              </c:numCache>
            </c:numRef>
          </c:xVal>
          <c:yVal>
            <c:numRef>
              <c:f>Sheet1!$E$27:$E$39</c:f>
              <c:numCache>
                <c:formatCode>General</c:formatCode>
                <c:ptCount val="13"/>
                <c:pt idx="0">
                  <c:v>0</c:v>
                </c:pt>
                <c:pt idx="1">
                  <c:v>52.749000000000002</c:v>
                </c:pt>
                <c:pt idx="2">
                  <c:v>74.945000000000007</c:v>
                </c:pt>
                <c:pt idx="3">
                  <c:v>84.364999999999995</c:v>
                </c:pt>
                <c:pt idx="4">
                  <c:v>88.369</c:v>
                </c:pt>
                <c:pt idx="5">
                  <c:v>90.071999999999989</c:v>
                </c:pt>
                <c:pt idx="6">
                  <c:v>90.796999999999997</c:v>
                </c:pt>
                <c:pt idx="7">
                  <c:v>91.10499999999999</c:v>
                </c:pt>
                <c:pt idx="8">
                  <c:v>91.236000000000004</c:v>
                </c:pt>
                <c:pt idx="9">
                  <c:v>91.292000000000002</c:v>
                </c:pt>
                <c:pt idx="10">
                  <c:v>91.315000000000012</c:v>
                </c:pt>
                <c:pt idx="11">
                  <c:v>91.324999999999989</c:v>
                </c:pt>
                <c:pt idx="12">
                  <c:v>91.326999999999998</c:v>
                </c:pt>
              </c:numCache>
            </c:numRef>
          </c:yVal>
          <c:smooth val="1"/>
          <c:extLst>
            <c:ext xmlns:c16="http://schemas.microsoft.com/office/drawing/2014/chart" uri="{C3380CC4-5D6E-409C-BE32-E72D297353CC}">
              <c16:uniqueId val="{00000002-7F08-4C7F-9C70-F939B5273F7B}"/>
            </c:ext>
          </c:extLst>
        </c:ser>
        <c:ser>
          <c:idx val="3"/>
          <c:order val="3"/>
          <c:tx>
            <c:v>cabe: b</c:v>
          </c:tx>
          <c:xVal>
            <c:numRef>
              <c:f>Sheet1!$B$27:$B$39</c:f>
              <c:numCache>
                <c:formatCode>General</c:formatCode>
                <c:ptCount val="13"/>
                <c:pt idx="0">
                  <c:v>0</c:v>
                </c:pt>
                <c:pt idx="1">
                  <c:v>0.5</c:v>
                </c:pt>
                <c:pt idx="2">
                  <c:v>1</c:v>
                </c:pt>
                <c:pt idx="3">
                  <c:v>1.5</c:v>
                </c:pt>
                <c:pt idx="4">
                  <c:v>2</c:v>
                </c:pt>
                <c:pt idx="5">
                  <c:v>2.5</c:v>
                </c:pt>
                <c:pt idx="6">
                  <c:v>3</c:v>
                </c:pt>
                <c:pt idx="7">
                  <c:v>3.5</c:v>
                </c:pt>
                <c:pt idx="8">
                  <c:v>4</c:v>
                </c:pt>
                <c:pt idx="9">
                  <c:v>4.5</c:v>
                </c:pt>
                <c:pt idx="10">
                  <c:v>5</c:v>
                </c:pt>
                <c:pt idx="11">
                  <c:v>5.5</c:v>
                </c:pt>
                <c:pt idx="12">
                  <c:v>6</c:v>
                </c:pt>
              </c:numCache>
            </c:numRef>
          </c:xVal>
          <c:yVal>
            <c:numRef>
              <c:f>Sheet1!$F$27:$F$39</c:f>
              <c:numCache>
                <c:formatCode>General</c:formatCode>
                <c:ptCount val="13"/>
                <c:pt idx="0">
                  <c:v>0</c:v>
                </c:pt>
                <c:pt idx="1">
                  <c:v>41.878</c:v>
                </c:pt>
                <c:pt idx="2">
                  <c:v>58.702000000000012</c:v>
                </c:pt>
                <c:pt idx="3">
                  <c:v>65.461000000000027</c:v>
                </c:pt>
                <c:pt idx="4">
                  <c:v>68.176999999999978</c:v>
                </c:pt>
                <c:pt idx="5">
                  <c:v>69.266999999999996</c:v>
                </c:pt>
                <c:pt idx="6">
                  <c:v>69.706000000000003</c:v>
                </c:pt>
                <c:pt idx="7">
                  <c:v>69.881999999999991</c:v>
                </c:pt>
                <c:pt idx="8">
                  <c:v>69.952000000000012</c:v>
                </c:pt>
                <c:pt idx="9">
                  <c:v>69.980999999999995</c:v>
                </c:pt>
                <c:pt idx="10">
                  <c:v>69.992000000000004</c:v>
                </c:pt>
                <c:pt idx="11">
                  <c:v>69.995999999999995</c:v>
                </c:pt>
                <c:pt idx="12">
                  <c:v>69.998000000000005</c:v>
                </c:pt>
              </c:numCache>
            </c:numRef>
          </c:yVal>
          <c:smooth val="1"/>
          <c:extLst>
            <c:ext xmlns:c16="http://schemas.microsoft.com/office/drawing/2014/chart" uri="{C3380CC4-5D6E-409C-BE32-E72D297353CC}">
              <c16:uniqueId val="{00000003-7F08-4C7F-9C70-F939B5273F7B}"/>
            </c:ext>
          </c:extLst>
        </c:ser>
        <c:ser>
          <c:idx val="4"/>
          <c:order val="4"/>
          <c:tx>
            <c:v>case: d</c:v>
          </c:tx>
          <c:xVal>
            <c:numRef>
              <c:f>Sheet1!$B$27:$B$39</c:f>
              <c:numCache>
                <c:formatCode>General</c:formatCode>
                <c:ptCount val="13"/>
                <c:pt idx="0">
                  <c:v>0</c:v>
                </c:pt>
                <c:pt idx="1">
                  <c:v>0.5</c:v>
                </c:pt>
                <c:pt idx="2">
                  <c:v>1</c:v>
                </c:pt>
                <c:pt idx="3">
                  <c:v>1.5</c:v>
                </c:pt>
                <c:pt idx="4">
                  <c:v>2</c:v>
                </c:pt>
                <c:pt idx="5">
                  <c:v>2.5</c:v>
                </c:pt>
                <c:pt idx="6">
                  <c:v>3</c:v>
                </c:pt>
                <c:pt idx="7">
                  <c:v>3.5</c:v>
                </c:pt>
                <c:pt idx="8">
                  <c:v>4</c:v>
                </c:pt>
                <c:pt idx="9">
                  <c:v>4.5</c:v>
                </c:pt>
                <c:pt idx="10">
                  <c:v>5</c:v>
                </c:pt>
                <c:pt idx="11">
                  <c:v>5.5</c:v>
                </c:pt>
                <c:pt idx="12">
                  <c:v>6</c:v>
                </c:pt>
              </c:numCache>
            </c:numRef>
          </c:xVal>
          <c:yVal>
            <c:numRef>
              <c:f>Sheet1!$H$27:$H$39</c:f>
              <c:numCache>
                <c:formatCode>General</c:formatCode>
                <c:ptCount val="13"/>
                <c:pt idx="0">
                  <c:v>0</c:v>
                </c:pt>
                <c:pt idx="1">
                  <c:v>9.5830000000000002</c:v>
                </c:pt>
                <c:pt idx="2">
                  <c:v>18.332999999999988</c:v>
                </c:pt>
                <c:pt idx="3">
                  <c:v>26.25</c:v>
                </c:pt>
                <c:pt idx="4">
                  <c:v>33.333000000000006</c:v>
                </c:pt>
                <c:pt idx="5">
                  <c:v>39.583000000000006</c:v>
                </c:pt>
                <c:pt idx="6">
                  <c:v>45</c:v>
                </c:pt>
                <c:pt idx="7">
                  <c:v>49.583000000000006</c:v>
                </c:pt>
                <c:pt idx="8">
                  <c:v>53.333000000000006</c:v>
                </c:pt>
                <c:pt idx="9">
                  <c:v>56.25</c:v>
                </c:pt>
                <c:pt idx="10">
                  <c:v>58.333000000000006</c:v>
                </c:pt>
                <c:pt idx="11">
                  <c:v>59.583000000000006</c:v>
                </c:pt>
                <c:pt idx="12">
                  <c:v>60</c:v>
                </c:pt>
              </c:numCache>
            </c:numRef>
          </c:yVal>
          <c:smooth val="1"/>
          <c:extLst>
            <c:ext xmlns:c16="http://schemas.microsoft.com/office/drawing/2014/chart" uri="{C3380CC4-5D6E-409C-BE32-E72D297353CC}">
              <c16:uniqueId val="{00000004-7F08-4C7F-9C70-F939B5273F7B}"/>
            </c:ext>
          </c:extLst>
        </c:ser>
        <c:ser>
          <c:idx val="5"/>
          <c:order val="5"/>
          <c:tx>
            <c:v>Case: c</c:v>
          </c:tx>
          <c:xVal>
            <c:numRef>
              <c:f>Sheet1!$B$27:$B$39</c:f>
              <c:numCache>
                <c:formatCode>General</c:formatCode>
                <c:ptCount val="13"/>
                <c:pt idx="0">
                  <c:v>0</c:v>
                </c:pt>
                <c:pt idx="1">
                  <c:v>0.5</c:v>
                </c:pt>
                <c:pt idx="2">
                  <c:v>1</c:v>
                </c:pt>
                <c:pt idx="3">
                  <c:v>1.5</c:v>
                </c:pt>
                <c:pt idx="4">
                  <c:v>2</c:v>
                </c:pt>
                <c:pt idx="5">
                  <c:v>2.5</c:v>
                </c:pt>
                <c:pt idx="6">
                  <c:v>3</c:v>
                </c:pt>
                <c:pt idx="7">
                  <c:v>3.5</c:v>
                </c:pt>
                <c:pt idx="8">
                  <c:v>4</c:v>
                </c:pt>
                <c:pt idx="9">
                  <c:v>4.5</c:v>
                </c:pt>
                <c:pt idx="10">
                  <c:v>5</c:v>
                </c:pt>
                <c:pt idx="11">
                  <c:v>5.5</c:v>
                </c:pt>
                <c:pt idx="12">
                  <c:v>6</c:v>
                </c:pt>
              </c:numCache>
            </c:numRef>
          </c:xVal>
          <c:yVal>
            <c:numRef>
              <c:f>Sheet1!$G$27:$G$39</c:f>
              <c:numCache>
                <c:formatCode>General</c:formatCode>
                <c:ptCount val="13"/>
                <c:pt idx="0">
                  <c:v>0</c:v>
                </c:pt>
                <c:pt idx="1">
                  <c:v>9.7050000000000001</c:v>
                </c:pt>
                <c:pt idx="2">
                  <c:v>18.465999999999962</c:v>
                </c:pt>
                <c:pt idx="3">
                  <c:v>26.382999999999967</c:v>
                </c:pt>
                <c:pt idx="4">
                  <c:v>33.467000000000006</c:v>
                </c:pt>
                <c:pt idx="5">
                  <c:v>39.717000000000006</c:v>
                </c:pt>
                <c:pt idx="6">
                  <c:v>45.133000000000003</c:v>
                </c:pt>
                <c:pt idx="7">
                  <c:v>49.717000000000006</c:v>
                </c:pt>
                <c:pt idx="8">
                  <c:v>53.467000000000006</c:v>
                </c:pt>
                <c:pt idx="9">
                  <c:v>56.382999999999996</c:v>
                </c:pt>
                <c:pt idx="10">
                  <c:v>58.467000000000006</c:v>
                </c:pt>
                <c:pt idx="11">
                  <c:v>59.717000000000006</c:v>
                </c:pt>
                <c:pt idx="12">
                  <c:v>60.133000000000003</c:v>
                </c:pt>
              </c:numCache>
            </c:numRef>
          </c:yVal>
          <c:smooth val="1"/>
          <c:extLst>
            <c:ext xmlns:c16="http://schemas.microsoft.com/office/drawing/2014/chart" uri="{C3380CC4-5D6E-409C-BE32-E72D297353CC}">
              <c16:uniqueId val="{00000005-7F08-4C7F-9C70-F939B5273F7B}"/>
            </c:ext>
          </c:extLst>
        </c:ser>
        <c:dLbls>
          <c:showLegendKey val="0"/>
          <c:showVal val="0"/>
          <c:showCatName val="0"/>
          <c:showSerName val="0"/>
          <c:showPercent val="0"/>
          <c:showBubbleSize val="0"/>
        </c:dLbls>
        <c:axId val="141220480"/>
        <c:axId val="141628160"/>
      </c:scatterChart>
      <c:valAx>
        <c:axId val="141220480"/>
        <c:scaling>
          <c:orientation val="minMax"/>
        </c:scaling>
        <c:delete val="0"/>
        <c:axPos val="b"/>
        <c:title>
          <c:tx>
            <c:rich>
              <a:bodyPr/>
              <a:lstStyle/>
              <a:p>
                <a:pPr>
                  <a:defRPr/>
                </a:pPr>
                <a:r>
                  <a:rPr lang="en-US"/>
                  <a:t>Axial distance</a:t>
                </a:r>
              </a:p>
            </c:rich>
          </c:tx>
          <c:overlay val="0"/>
        </c:title>
        <c:numFmt formatCode="General" sourceLinked="1"/>
        <c:majorTickMark val="out"/>
        <c:minorTickMark val="none"/>
        <c:tickLblPos val="nextTo"/>
        <c:crossAx val="141628160"/>
        <c:crosses val="autoZero"/>
        <c:crossBetween val="midCat"/>
      </c:valAx>
      <c:valAx>
        <c:axId val="141628160"/>
        <c:scaling>
          <c:orientation val="minMax"/>
        </c:scaling>
        <c:delete val="0"/>
        <c:axPos val="l"/>
        <c:majorGridlines/>
        <c:title>
          <c:tx>
            <c:rich>
              <a:bodyPr rot="-5400000" vert="horz"/>
              <a:lstStyle/>
              <a:p>
                <a:pPr>
                  <a:defRPr/>
                </a:pPr>
                <a:r>
                  <a:rPr lang="en-US"/>
                  <a:t>Temperature *C</a:t>
                </a:r>
              </a:p>
            </c:rich>
          </c:tx>
          <c:overlay val="0"/>
        </c:title>
        <c:numFmt formatCode="General" sourceLinked="1"/>
        <c:majorTickMark val="out"/>
        <c:minorTickMark val="none"/>
        <c:tickLblPos val="nextTo"/>
        <c:crossAx val="141220480"/>
        <c:crosses val="autoZero"/>
        <c:crossBetween val="midCat"/>
      </c:valAx>
    </c:plotArea>
    <c:legend>
      <c:legendPos val="r"/>
      <c:overlay val="0"/>
    </c:legend>
    <c:plotVisOnly val="1"/>
    <c:dispBlanksAs val="gap"/>
    <c:showDLblsOverMax val="0"/>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sz="1400" b="0" baseline="0"/>
              <a:t> Temperature Distribution</a:t>
            </a:r>
            <a:endParaRPr lang="en-US" sz="1400" b="0"/>
          </a:p>
        </c:rich>
      </c:tx>
      <c:overlay val="0"/>
    </c:title>
    <c:autoTitleDeleted val="0"/>
    <c:plotArea>
      <c:layout/>
      <c:lineChart>
        <c:grouping val="standard"/>
        <c:varyColors val="0"/>
        <c:ser>
          <c:idx val="0"/>
          <c:order val="0"/>
          <c:tx>
            <c:v>n=5</c:v>
          </c:tx>
          <c:cat>
            <c:numRef>
              <c:f>Sheet1!$B$63:$B$71</c:f>
              <c:numCache>
                <c:formatCode>General</c:formatCode>
                <c:ptCount val="9"/>
                <c:pt idx="0">
                  <c:v>0</c:v>
                </c:pt>
                <c:pt idx="1">
                  <c:v>0.1</c:v>
                </c:pt>
                <c:pt idx="2">
                  <c:v>0.30000000000000032</c:v>
                </c:pt>
                <c:pt idx="3">
                  <c:v>0.4</c:v>
                </c:pt>
                <c:pt idx="4">
                  <c:v>0.5</c:v>
                </c:pt>
                <c:pt idx="5">
                  <c:v>0.60000000000000064</c:v>
                </c:pt>
                <c:pt idx="6">
                  <c:v>0.70000000000000062</c:v>
                </c:pt>
                <c:pt idx="7">
                  <c:v>0.9</c:v>
                </c:pt>
                <c:pt idx="8">
                  <c:v>1</c:v>
                </c:pt>
              </c:numCache>
            </c:numRef>
          </c:cat>
          <c:val>
            <c:numRef>
              <c:f>Sheet1!$C$63:$C$71</c:f>
              <c:numCache>
                <c:formatCode>General</c:formatCode>
                <c:ptCount val="9"/>
                <c:pt idx="0">
                  <c:v>914.22</c:v>
                </c:pt>
                <c:pt idx="1">
                  <c:v>902.12</c:v>
                </c:pt>
                <c:pt idx="2">
                  <c:v>866.52</c:v>
                </c:pt>
                <c:pt idx="3">
                  <c:v>806.26</c:v>
                </c:pt>
                <c:pt idx="4">
                  <c:v>717.77000000000055</c:v>
                </c:pt>
                <c:pt idx="5">
                  <c:v>600.27000000000055</c:v>
                </c:pt>
                <c:pt idx="6">
                  <c:v>449.17</c:v>
                </c:pt>
                <c:pt idx="7">
                  <c:v>260.64000000000038</c:v>
                </c:pt>
                <c:pt idx="8">
                  <c:v>30</c:v>
                </c:pt>
              </c:numCache>
            </c:numRef>
          </c:val>
          <c:smooth val="0"/>
          <c:extLst>
            <c:ext xmlns:c16="http://schemas.microsoft.com/office/drawing/2014/chart" uri="{C3380CC4-5D6E-409C-BE32-E72D297353CC}">
              <c16:uniqueId val="{00000000-0B02-4134-8980-32F466FE6A0B}"/>
            </c:ext>
          </c:extLst>
        </c:ser>
        <c:ser>
          <c:idx val="1"/>
          <c:order val="1"/>
          <c:tx>
            <c:v>n=4</c:v>
          </c:tx>
          <c:cat>
            <c:numRef>
              <c:f>Sheet1!$B$63:$B$71</c:f>
              <c:numCache>
                <c:formatCode>General</c:formatCode>
                <c:ptCount val="9"/>
                <c:pt idx="0">
                  <c:v>0</c:v>
                </c:pt>
                <c:pt idx="1">
                  <c:v>0.1</c:v>
                </c:pt>
                <c:pt idx="2">
                  <c:v>0.30000000000000032</c:v>
                </c:pt>
                <c:pt idx="3">
                  <c:v>0.4</c:v>
                </c:pt>
                <c:pt idx="4">
                  <c:v>0.5</c:v>
                </c:pt>
                <c:pt idx="5">
                  <c:v>0.60000000000000064</c:v>
                </c:pt>
                <c:pt idx="6">
                  <c:v>0.70000000000000062</c:v>
                </c:pt>
                <c:pt idx="7">
                  <c:v>0.9</c:v>
                </c:pt>
                <c:pt idx="8">
                  <c:v>1</c:v>
                </c:pt>
              </c:numCache>
            </c:numRef>
          </c:cat>
          <c:val>
            <c:numRef>
              <c:f>Sheet1!$E$63:$E$71</c:f>
              <c:numCache>
                <c:formatCode>General</c:formatCode>
                <c:ptCount val="9"/>
                <c:pt idx="0">
                  <c:v>535.5</c:v>
                </c:pt>
                <c:pt idx="1">
                  <c:v>528.58000000000004</c:v>
                </c:pt>
                <c:pt idx="2">
                  <c:v>508.22999999999928</c:v>
                </c:pt>
                <c:pt idx="3">
                  <c:v>473.78</c:v>
                </c:pt>
                <c:pt idx="4">
                  <c:v>423.19</c:v>
                </c:pt>
                <c:pt idx="5">
                  <c:v>356.02</c:v>
                </c:pt>
                <c:pt idx="6">
                  <c:v>269.63</c:v>
                </c:pt>
                <c:pt idx="7">
                  <c:v>161.85000000000036</c:v>
                </c:pt>
                <c:pt idx="8">
                  <c:v>30</c:v>
                </c:pt>
              </c:numCache>
            </c:numRef>
          </c:val>
          <c:smooth val="0"/>
          <c:extLst>
            <c:ext xmlns:c16="http://schemas.microsoft.com/office/drawing/2014/chart" uri="{C3380CC4-5D6E-409C-BE32-E72D297353CC}">
              <c16:uniqueId val="{00000001-0B02-4134-8980-32F466FE6A0B}"/>
            </c:ext>
          </c:extLst>
        </c:ser>
        <c:ser>
          <c:idx val="2"/>
          <c:order val="2"/>
          <c:tx>
            <c:v>n=3</c:v>
          </c:tx>
          <c:cat>
            <c:numRef>
              <c:f>Sheet1!$B$63:$B$71</c:f>
              <c:numCache>
                <c:formatCode>General</c:formatCode>
                <c:ptCount val="9"/>
                <c:pt idx="0">
                  <c:v>0</c:v>
                </c:pt>
                <c:pt idx="1">
                  <c:v>0.1</c:v>
                </c:pt>
                <c:pt idx="2">
                  <c:v>0.30000000000000032</c:v>
                </c:pt>
                <c:pt idx="3">
                  <c:v>0.4</c:v>
                </c:pt>
                <c:pt idx="4">
                  <c:v>0.5</c:v>
                </c:pt>
                <c:pt idx="5">
                  <c:v>0.60000000000000064</c:v>
                </c:pt>
                <c:pt idx="6">
                  <c:v>0.70000000000000062</c:v>
                </c:pt>
                <c:pt idx="7">
                  <c:v>0.9</c:v>
                </c:pt>
                <c:pt idx="8">
                  <c:v>1</c:v>
                </c:pt>
              </c:numCache>
            </c:numRef>
          </c:cat>
          <c:val>
            <c:numRef>
              <c:f>Sheet1!$G$63:$G$71</c:f>
              <c:numCache>
                <c:formatCode>General</c:formatCode>
                <c:ptCount val="9"/>
                <c:pt idx="0">
                  <c:v>302.27</c:v>
                </c:pt>
                <c:pt idx="1">
                  <c:v>298.54000000000002</c:v>
                </c:pt>
                <c:pt idx="2">
                  <c:v>287.58</c:v>
                </c:pt>
                <c:pt idx="3">
                  <c:v>269.02999999999969</c:v>
                </c:pt>
                <c:pt idx="4">
                  <c:v>241.78</c:v>
                </c:pt>
                <c:pt idx="5">
                  <c:v>205.6</c:v>
                </c:pt>
                <c:pt idx="6">
                  <c:v>159.07</c:v>
                </c:pt>
                <c:pt idx="7">
                  <c:v>101.02</c:v>
                </c:pt>
                <c:pt idx="8">
                  <c:v>30</c:v>
                </c:pt>
              </c:numCache>
            </c:numRef>
          </c:val>
          <c:smooth val="0"/>
          <c:extLst>
            <c:ext xmlns:c16="http://schemas.microsoft.com/office/drawing/2014/chart" uri="{C3380CC4-5D6E-409C-BE32-E72D297353CC}">
              <c16:uniqueId val="{00000002-0B02-4134-8980-32F466FE6A0B}"/>
            </c:ext>
          </c:extLst>
        </c:ser>
        <c:ser>
          <c:idx val="3"/>
          <c:order val="3"/>
          <c:tx>
            <c:v>n=0</c:v>
          </c:tx>
          <c:cat>
            <c:numRef>
              <c:f>Sheet1!$B$63:$B$71</c:f>
              <c:numCache>
                <c:formatCode>General</c:formatCode>
                <c:ptCount val="9"/>
                <c:pt idx="0">
                  <c:v>0</c:v>
                </c:pt>
                <c:pt idx="1">
                  <c:v>0.1</c:v>
                </c:pt>
                <c:pt idx="2">
                  <c:v>0.30000000000000032</c:v>
                </c:pt>
                <c:pt idx="3">
                  <c:v>0.4</c:v>
                </c:pt>
                <c:pt idx="4">
                  <c:v>0.5</c:v>
                </c:pt>
                <c:pt idx="5">
                  <c:v>0.60000000000000064</c:v>
                </c:pt>
                <c:pt idx="6">
                  <c:v>0.70000000000000062</c:v>
                </c:pt>
                <c:pt idx="7">
                  <c:v>0.9</c:v>
                </c:pt>
                <c:pt idx="8">
                  <c:v>1</c:v>
                </c:pt>
              </c:numCache>
            </c:numRef>
          </c:cat>
          <c:val>
            <c:numRef>
              <c:f>Sheet1!$I$63:$I$71</c:f>
              <c:numCache>
                <c:formatCode>General</c:formatCode>
                <c:ptCount val="9"/>
                <c:pt idx="0">
                  <c:v>66.5</c:v>
                </c:pt>
                <c:pt idx="1">
                  <c:v>66</c:v>
                </c:pt>
                <c:pt idx="2">
                  <c:v>64.53</c:v>
                </c:pt>
                <c:pt idx="3">
                  <c:v>62.04</c:v>
                </c:pt>
                <c:pt idx="4">
                  <c:v>58.39</c:v>
                </c:pt>
                <c:pt idx="5">
                  <c:v>53.54</c:v>
                </c:pt>
                <c:pt idx="6">
                  <c:v>47.3</c:v>
                </c:pt>
                <c:pt idx="7">
                  <c:v>39.520000000000003</c:v>
                </c:pt>
                <c:pt idx="8">
                  <c:v>30</c:v>
                </c:pt>
              </c:numCache>
            </c:numRef>
          </c:val>
          <c:smooth val="0"/>
          <c:extLst>
            <c:ext xmlns:c16="http://schemas.microsoft.com/office/drawing/2014/chart" uri="{C3380CC4-5D6E-409C-BE32-E72D297353CC}">
              <c16:uniqueId val="{00000003-0B02-4134-8980-32F466FE6A0B}"/>
            </c:ext>
          </c:extLst>
        </c:ser>
        <c:dLbls>
          <c:showLegendKey val="0"/>
          <c:showVal val="0"/>
          <c:showCatName val="0"/>
          <c:showSerName val="0"/>
          <c:showPercent val="0"/>
          <c:showBubbleSize val="0"/>
        </c:dLbls>
        <c:marker val="1"/>
        <c:smooth val="0"/>
        <c:axId val="141667712"/>
        <c:axId val="141682176"/>
      </c:lineChart>
      <c:catAx>
        <c:axId val="141667712"/>
        <c:scaling>
          <c:orientation val="minMax"/>
        </c:scaling>
        <c:delete val="0"/>
        <c:axPos val="b"/>
        <c:title>
          <c:tx>
            <c:rich>
              <a:bodyPr/>
              <a:lstStyle/>
              <a:p>
                <a:pPr>
                  <a:defRPr/>
                </a:pPr>
                <a:r>
                  <a:rPr lang="en-US"/>
                  <a:t>2x/a</a:t>
                </a:r>
              </a:p>
            </c:rich>
          </c:tx>
          <c:overlay val="0"/>
        </c:title>
        <c:numFmt formatCode="General" sourceLinked="1"/>
        <c:majorTickMark val="out"/>
        <c:minorTickMark val="none"/>
        <c:tickLblPos val="nextTo"/>
        <c:crossAx val="141682176"/>
        <c:crosses val="autoZero"/>
        <c:auto val="1"/>
        <c:lblAlgn val="ctr"/>
        <c:lblOffset val="100"/>
        <c:noMultiLvlLbl val="0"/>
      </c:catAx>
      <c:valAx>
        <c:axId val="141682176"/>
        <c:scaling>
          <c:orientation val="minMax"/>
        </c:scaling>
        <c:delete val="0"/>
        <c:axPos val="l"/>
        <c:majorGridlines/>
        <c:title>
          <c:tx>
            <c:rich>
              <a:bodyPr rot="-5400000" vert="horz"/>
              <a:lstStyle/>
              <a:p>
                <a:pPr>
                  <a:defRPr/>
                </a:pPr>
                <a:r>
                  <a:rPr lang="en-US"/>
                  <a:t>Temperature</a:t>
                </a:r>
                <a:r>
                  <a:rPr lang="en-US" baseline="0"/>
                  <a:t> (*C)</a:t>
                </a:r>
                <a:endParaRPr lang="en-US"/>
              </a:p>
            </c:rich>
          </c:tx>
          <c:overlay val="0"/>
        </c:title>
        <c:numFmt formatCode="General" sourceLinked="1"/>
        <c:majorTickMark val="out"/>
        <c:minorTickMark val="none"/>
        <c:tickLblPos val="nextTo"/>
        <c:crossAx val="141667712"/>
        <c:crosses val="autoZero"/>
        <c:crossBetween val="between"/>
      </c:valAx>
    </c:plotArea>
    <c:legend>
      <c:legendPos val="r"/>
      <c:overlay val="0"/>
    </c:legend>
    <c:plotVisOnly val="1"/>
    <c:dispBlanksAs val="gap"/>
    <c:showDLblsOverMax val="0"/>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sz="1400" b="0"/>
              <a:t>Temperature</a:t>
            </a:r>
            <a:r>
              <a:rPr lang="en-US" sz="1400" b="0" baseline="0"/>
              <a:t> Distribution</a:t>
            </a:r>
            <a:endParaRPr lang="en-US" sz="1400" b="0"/>
          </a:p>
        </c:rich>
      </c:tx>
      <c:overlay val="0"/>
    </c:title>
    <c:autoTitleDeleted val="0"/>
    <c:plotArea>
      <c:layout/>
      <c:lineChart>
        <c:grouping val="standard"/>
        <c:varyColors val="0"/>
        <c:ser>
          <c:idx val="0"/>
          <c:order val="0"/>
          <c:tx>
            <c:v>n=0</c:v>
          </c:tx>
          <c:cat>
            <c:numRef>
              <c:f>Sheet1!$B$77:$B$85</c:f>
              <c:numCache>
                <c:formatCode>General</c:formatCode>
                <c:ptCount val="9"/>
                <c:pt idx="0">
                  <c:v>0</c:v>
                </c:pt>
                <c:pt idx="1">
                  <c:v>0.1</c:v>
                </c:pt>
                <c:pt idx="2">
                  <c:v>0.30000000000000032</c:v>
                </c:pt>
                <c:pt idx="3">
                  <c:v>0.4</c:v>
                </c:pt>
                <c:pt idx="4">
                  <c:v>0.5</c:v>
                </c:pt>
                <c:pt idx="5">
                  <c:v>0.60000000000000064</c:v>
                </c:pt>
                <c:pt idx="6">
                  <c:v>0.70000000000000062</c:v>
                </c:pt>
                <c:pt idx="7">
                  <c:v>0.9</c:v>
                </c:pt>
                <c:pt idx="8">
                  <c:v>1</c:v>
                </c:pt>
              </c:numCache>
            </c:numRef>
          </c:cat>
          <c:val>
            <c:numRef>
              <c:f>Sheet1!$C$77:$C$85</c:f>
              <c:numCache>
                <c:formatCode>General</c:formatCode>
                <c:ptCount val="9"/>
                <c:pt idx="0">
                  <c:v>3555.53</c:v>
                </c:pt>
                <c:pt idx="1">
                  <c:v>3507.25</c:v>
                </c:pt>
                <c:pt idx="2">
                  <c:v>3365.3100000000022</c:v>
                </c:pt>
                <c:pt idx="3">
                  <c:v>3125.04</c:v>
                </c:pt>
                <c:pt idx="4">
                  <c:v>2772.22</c:v>
                </c:pt>
                <c:pt idx="5">
                  <c:v>2303.7599999999998</c:v>
                </c:pt>
                <c:pt idx="6">
                  <c:v>1701.28</c:v>
                </c:pt>
                <c:pt idx="7">
                  <c:v>949.59</c:v>
                </c:pt>
                <c:pt idx="8">
                  <c:v>30</c:v>
                </c:pt>
              </c:numCache>
            </c:numRef>
          </c:val>
          <c:smooth val="0"/>
          <c:extLst>
            <c:ext xmlns:c16="http://schemas.microsoft.com/office/drawing/2014/chart" uri="{C3380CC4-5D6E-409C-BE32-E72D297353CC}">
              <c16:uniqueId val="{00000000-86D8-4966-BEAC-E794AEEBCD36}"/>
            </c:ext>
          </c:extLst>
        </c:ser>
        <c:ser>
          <c:idx val="1"/>
          <c:order val="1"/>
          <c:tx>
            <c:v>n=0.2</c:v>
          </c:tx>
          <c:cat>
            <c:numRef>
              <c:f>Sheet1!$B$77:$B$85</c:f>
              <c:numCache>
                <c:formatCode>General</c:formatCode>
                <c:ptCount val="9"/>
                <c:pt idx="0">
                  <c:v>0</c:v>
                </c:pt>
                <c:pt idx="1">
                  <c:v>0.1</c:v>
                </c:pt>
                <c:pt idx="2">
                  <c:v>0.30000000000000032</c:v>
                </c:pt>
                <c:pt idx="3">
                  <c:v>0.4</c:v>
                </c:pt>
                <c:pt idx="4">
                  <c:v>0.5</c:v>
                </c:pt>
                <c:pt idx="5">
                  <c:v>0.60000000000000064</c:v>
                </c:pt>
                <c:pt idx="6">
                  <c:v>0.70000000000000062</c:v>
                </c:pt>
                <c:pt idx="7">
                  <c:v>0.9</c:v>
                </c:pt>
                <c:pt idx="8">
                  <c:v>1</c:v>
                </c:pt>
              </c:numCache>
            </c:numRef>
          </c:cat>
          <c:val>
            <c:numRef>
              <c:f>Sheet1!$D$77:$D$85</c:f>
              <c:numCache>
                <c:formatCode>General</c:formatCode>
                <c:ptCount val="9"/>
                <c:pt idx="0">
                  <c:v>293.58</c:v>
                </c:pt>
                <c:pt idx="1">
                  <c:v>289.97000000000003</c:v>
                </c:pt>
                <c:pt idx="2">
                  <c:v>279.36</c:v>
                </c:pt>
                <c:pt idx="3">
                  <c:v>261.39</c:v>
                </c:pt>
                <c:pt idx="4">
                  <c:v>235.01</c:v>
                </c:pt>
                <c:pt idx="5">
                  <c:v>199.99</c:v>
                </c:pt>
                <c:pt idx="6">
                  <c:v>154.94999999999999</c:v>
                </c:pt>
                <c:pt idx="7">
                  <c:v>98.75</c:v>
                </c:pt>
                <c:pt idx="8">
                  <c:v>30</c:v>
                </c:pt>
              </c:numCache>
            </c:numRef>
          </c:val>
          <c:smooth val="0"/>
          <c:extLst>
            <c:ext xmlns:c16="http://schemas.microsoft.com/office/drawing/2014/chart" uri="{C3380CC4-5D6E-409C-BE32-E72D297353CC}">
              <c16:uniqueId val="{00000001-86D8-4966-BEAC-E794AEEBCD36}"/>
            </c:ext>
          </c:extLst>
        </c:ser>
        <c:ser>
          <c:idx val="2"/>
          <c:order val="2"/>
          <c:tx>
            <c:v>n=5</c:v>
          </c:tx>
          <c:val>
            <c:numRef>
              <c:f>Sheet1!$G$77:$G$85</c:f>
              <c:numCache>
                <c:formatCode>General</c:formatCode>
                <c:ptCount val="9"/>
                <c:pt idx="0">
                  <c:v>67.669999999999987</c:v>
                </c:pt>
                <c:pt idx="1">
                  <c:v>67.149999999999991</c:v>
                </c:pt>
                <c:pt idx="2">
                  <c:v>65.63</c:v>
                </c:pt>
                <c:pt idx="3">
                  <c:v>63.07</c:v>
                </c:pt>
                <c:pt idx="4">
                  <c:v>59.3</c:v>
                </c:pt>
                <c:pt idx="5">
                  <c:v>54.290000000000013</c:v>
                </c:pt>
                <c:pt idx="6">
                  <c:v>47.86</c:v>
                </c:pt>
                <c:pt idx="7">
                  <c:v>39.82</c:v>
                </c:pt>
                <c:pt idx="8">
                  <c:v>30</c:v>
                </c:pt>
              </c:numCache>
            </c:numRef>
          </c:val>
          <c:smooth val="0"/>
          <c:extLst>
            <c:ext xmlns:c16="http://schemas.microsoft.com/office/drawing/2014/chart" uri="{C3380CC4-5D6E-409C-BE32-E72D297353CC}">
              <c16:uniqueId val="{00000002-86D8-4966-BEAC-E794AEEBCD36}"/>
            </c:ext>
          </c:extLst>
        </c:ser>
        <c:ser>
          <c:idx val="3"/>
          <c:order val="3"/>
          <c:tx>
            <c:v>n=1</c:v>
          </c:tx>
          <c:val>
            <c:numRef>
              <c:f>Sheet1!$I$77:$I$85</c:f>
              <c:numCache>
                <c:formatCode>General</c:formatCode>
                <c:ptCount val="9"/>
                <c:pt idx="0">
                  <c:v>102.25</c:v>
                </c:pt>
                <c:pt idx="1">
                  <c:v>101.26</c:v>
                </c:pt>
                <c:pt idx="2">
                  <c:v>98.35</c:v>
                </c:pt>
                <c:pt idx="3">
                  <c:v>93.43</c:v>
                </c:pt>
                <c:pt idx="4">
                  <c:v>86.2</c:v>
                </c:pt>
                <c:pt idx="5">
                  <c:v>76.599999999999994</c:v>
                </c:pt>
                <c:pt idx="6">
                  <c:v>64.25</c:v>
                </c:pt>
                <c:pt idx="7">
                  <c:v>48.849999999999994</c:v>
                </c:pt>
                <c:pt idx="8">
                  <c:v>30</c:v>
                </c:pt>
              </c:numCache>
            </c:numRef>
          </c:val>
          <c:smooth val="0"/>
          <c:extLst>
            <c:ext xmlns:c16="http://schemas.microsoft.com/office/drawing/2014/chart" uri="{C3380CC4-5D6E-409C-BE32-E72D297353CC}">
              <c16:uniqueId val="{00000003-86D8-4966-BEAC-E794AEEBCD36}"/>
            </c:ext>
          </c:extLst>
        </c:ser>
        <c:dLbls>
          <c:showLegendKey val="0"/>
          <c:showVal val="0"/>
          <c:showCatName val="0"/>
          <c:showSerName val="0"/>
          <c:showPercent val="0"/>
          <c:showBubbleSize val="0"/>
        </c:dLbls>
        <c:marker val="1"/>
        <c:smooth val="0"/>
        <c:axId val="141791232"/>
        <c:axId val="141793152"/>
      </c:lineChart>
      <c:catAx>
        <c:axId val="141791232"/>
        <c:scaling>
          <c:orientation val="minMax"/>
        </c:scaling>
        <c:delete val="0"/>
        <c:axPos val="b"/>
        <c:title>
          <c:tx>
            <c:rich>
              <a:bodyPr/>
              <a:lstStyle/>
              <a:p>
                <a:pPr>
                  <a:defRPr/>
                </a:pPr>
                <a:r>
                  <a:rPr lang="en-US"/>
                  <a:t>2x/a</a:t>
                </a:r>
              </a:p>
            </c:rich>
          </c:tx>
          <c:overlay val="0"/>
        </c:title>
        <c:numFmt formatCode="General" sourceLinked="1"/>
        <c:majorTickMark val="out"/>
        <c:minorTickMark val="none"/>
        <c:tickLblPos val="nextTo"/>
        <c:crossAx val="141793152"/>
        <c:crosses val="autoZero"/>
        <c:auto val="1"/>
        <c:lblAlgn val="ctr"/>
        <c:lblOffset val="100"/>
        <c:noMultiLvlLbl val="0"/>
      </c:catAx>
      <c:valAx>
        <c:axId val="141793152"/>
        <c:scaling>
          <c:orientation val="minMax"/>
          <c:max val="4000"/>
          <c:min val="30"/>
        </c:scaling>
        <c:delete val="0"/>
        <c:axPos val="l"/>
        <c:majorGridlines/>
        <c:title>
          <c:tx>
            <c:rich>
              <a:bodyPr rot="-5400000" vert="horz"/>
              <a:lstStyle/>
              <a:p>
                <a:pPr>
                  <a:defRPr/>
                </a:pPr>
                <a:r>
                  <a:rPr lang="en-US"/>
                  <a:t>Temperature</a:t>
                </a:r>
                <a:r>
                  <a:rPr lang="en-US" baseline="0"/>
                  <a:t> (*c)</a:t>
                </a:r>
                <a:endParaRPr lang="en-US"/>
              </a:p>
            </c:rich>
          </c:tx>
          <c:overlay val="0"/>
        </c:title>
        <c:numFmt formatCode="General" sourceLinked="1"/>
        <c:majorTickMark val="out"/>
        <c:minorTickMark val="none"/>
        <c:tickLblPos val="nextTo"/>
        <c:crossAx val="141791232"/>
        <c:crosses val="autoZero"/>
        <c:crossBetween val="between"/>
        <c:majorUnit val="470"/>
        <c:minorUnit val="100"/>
      </c:valAx>
    </c:plotArea>
    <c:legend>
      <c:legendPos val="r"/>
      <c:overlay val="0"/>
    </c:legend>
    <c:plotVisOnly val="1"/>
    <c:dispBlanksAs val="gap"/>
    <c:showDLblsOverMax val="0"/>
  </c:chart>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0D9F47-6BC8-46A5-9F5D-962266EE8CAB}" type="doc">
      <dgm:prSet loTypeId="urn:microsoft.com/office/officeart/2005/8/layout/pyramid2" loCatId="list" qsTypeId="urn:microsoft.com/office/officeart/2005/8/quickstyle/simple1" qsCatId="simple" csTypeId="urn:microsoft.com/office/officeart/2005/8/colors/accent1_2" csCatId="accent1" phldr="1"/>
      <dgm:spPr/>
      <dgm:t>
        <a:bodyPr/>
        <a:lstStyle/>
        <a:p>
          <a:endParaRPr lang="en-US"/>
        </a:p>
      </dgm:t>
    </dgm:pt>
    <dgm:pt modelId="{5281880B-8FEA-46D6-A854-F7EEC88B5131}">
      <dgm:prSet phldrT="[Text]" custT="1"/>
      <dgm:spPr/>
      <dgm:t>
        <a:bodyPr/>
        <a:lstStyle/>
        <a:p>
          <a:pPr>
            <a:lnSpc>
              <a:spcPct val="90000"/>
            </a:lnSpc>
          </a:pPr>
          <a:endParaRPr lang="en-US" sz="1600" dirty="0">
            <a:latin typeface="Times New Roman" pitchFamily="18" charset="0"/>
            <a:cs typeface="Times New Roman" pitchFamily="18" charset="0"/>
          </a:endParaRPr>
        </a:p>
        <a:p>
          <a:pPr>
            <a:lnSpc>
              <a:spcPct val="100000"/>
            </a:lnSpc>
          </a:pPr>
          <a:r>
            <a:rPr lang="en-US" sz="1600" dirty="0">
              <a:latin typeface="Times New Roman" pitchFamily="18" charset="0"/>
              <a:cs typeface="Times New Roman" pitchFamily="18" charset="0"/>
            </a:rPr>
            <a:t>Problem Identification  </a:t>
          </a:r>
        </a:p>
        <a:p>
          <a:pPr>
            <a:lnSpc>
              <a:spcPct val="100000"/>
            </a:lnSpc>
          </a:pPr>
          <a:r>
            <a:rPr lang="en-US" sz="1600" dirty="0">
              <a:latin typeface="Times New Roman" pitchFamily="18" charset="0"/>
              <a:cs typeface="Times New Roman" pitchFamily="18" charset="0"/>
            </a:rPr>
            <a:t>and </a:t>
          </a:r>
        </a:p>
        <a:p>
          <a:pPr>
            <a:lnSpc>
              <a:spcPct val="100000"/>
            </a:lnSpc>
          </a:pPr>
          <a:r>
            <a:rPr lang="en-US" sz="1600" dirty="0">
              <a:latin typeface="Times New Roman" pitchFamily="18" charset="0"/>
              <a:cs typeface="Times New Roman" pitchFamily="18" charset="0"/>
            </a:rPr>
            <a:t>         Definition of objective	</a:t>
          </a:r>
          <a:r>
            <a:rPr lang="en-US" sz="1700" dirty="0"/>
            <a:t>	</a:t>
          </a:r>
        </a:p>
      </dgm:t>
    </dgm:pt>
    <dgm:pt modelId="{29248398-8063-4D2E-B793-43FA046F6321}" type="parTrans" cxnId="{788AF8E6-9D20-4A42-9985-34BAE403575A}">
      <dgm:prSet/>
      <dgm:spPr/>
      <dgm:t>
        <a:bodyPr/>
        <a:lstStyle/>
        <a:p>
          <a:endParaRPr lang="en-US"/>
        </a:p>
      </dgm:t>
    </dgm:pt>
    <dgm:pt modelId="{27CFD78F-7E6E-498A-BFC1-19DFA3D553D5}" type="sibTrans" cxnId="{788AF8E6-9D20-4A42-9985-34BAE403575A}">
      <dgm:prSet/>
      <dgm:spPr/>
      <dgm:t>
        <a:bodyPr/>
        <a:lstStyle/>
        <a:p>
          <a:endParaRPr lang="en-US"/>
        </a:p>
      </dgm:t>
    </dgm:pt>
    <dgm:pt modelId="{2251EF4A-8809-4187-8B8A-6C05BD5819FB}">
      <dgm:prSet phldrT="[Text]" custT="1"/>
      <dgm:spPr/>
      <dgm:t>
        <a:bodyPr/>
        <a:lstStyle/>
        <a:p>
          <a:r>
            <a:rPr lang="en-US" sz="1600" dirty="0">
              <a:latin typeface="Times New Roman" pitchFamily="18" charset="0"/>
              <a:cs typeface="Times New Roman" pitchFamily="18" charset="0"/>
            </a:rPr>
            <a:t>Literature Survey</a:t>
          </a:r>
        </a:p>
      </dgm:t>
    </dgm:pt>
    <dgm:pt modelId="{F8BDAAFC-16C8-41EA-8B31-E96FC31E0FE1}" type="parTrans" cxnId="{7B703D3E-9E43-4534-90F9-FAC1F60C443D}">
      <dgm:prSet/>
      <dgm:spPr/>
      <dgm:t>
        <a:bodyPr/>
        <a:lstStyle/>
        <a:p>
          <a:endParaRPr lang="en-US"/>
        </a:p>
      </dgm:t>
    </dgm:pt>
    <dgm:pt modelId="{6A5E66B6-9D93-43AD-B367-98A0F21EC174}" type="sibTrans" cxnId="{7B703D3E-9E43-4534-90F9-FAC1F60C443D}">
      <dgm:prSet/>
      <dgm:spPr/>
      <dgm:t>
        <a:bodyPr/>
        <a:lstStyle/>
        <a:p>
          <a:endParaRPr lang="en-US"/>
        </a:p>
      </dgm:t>
    </dgm:pt>
    <dgm:pt modelId="{FDD05B9C-8D95-422B-B55F-878C11BC4104}">
      <dgm:prSet phldrT="[Text]" custT="1"/>
      <dgm:spPr/>
      <dgm:t>
        <a:bodyPr/>
        <a:lstStyle/>
        <a:p>
          <a:r>
            <a:rPr lang="en-US" sz="1600" dirty="0">
              <a:latin typeface="Times New Roman" pitchFamily="18" charset="0"/>
              <a:cs typeface="Times New Roman" pitchFamily="18" charset="0"/>
            </a:rPr>
            <a:t>Finite Element Formulation</a:t>
          </a:r>
        </a:p>
      </dgm:t>
    </dgm:pt>
    <dgm:pt modelId="{F038C380-1934-4FE8-BBE3-BB5B963705B3}" type="parTrans" cxnId="{6878D94F-191A-4A4A-96F6-B6D79745D445}">
      <dgm:prSet/>
      <dgm:spPr/>
      <dgm:t>
        <a:bodyPr/>
        <a:lstStyle/>
        <a:p>
          <a:endParaRPr lang="en-US"/>
        </a:p>
      </dgm:t>
    </dgm:pt>
    <dgm:pt modelId="{F8D2603A-E236-4028-BBDD-573246F8F306}" type="sibTrans" cxnId="{6878D94F-191A-4A4A-96F6-B6D79745D445}">
      <dgm:prSet/>
      <dgm:spPr/>
      <dgm:t>
        <a:bodyPr/>
        <a:lstStyle/>
        <a:p>
          <a:endParaRPr lang="en-US"/>
        </a:p>
      </dgm:t>
    </dgm:pt>
    <dgm:pt modelId="{BCBB1FC5-8C3D-44F2-A888-E2C7C7C46A3C}">
      <dgm:prSet phldrT="[Text]" custT="1"/>
      <dgm:spPr/>
      <dgm:t>
        <a:bodyPr/>
        <a:lstStyle/>
        <a:p>
          <a:r>
            <a:rPr lang="en-US" sz="1400" dirty="0">
              <a:latin typeface="Times New Roman" pitchFamily="18" charset="0"/>
              <a:cs typeface="Times New Roman" pitchFamily="18" charset="0"/>
            </a:rPr>
            <a:t>Generation of FEM code in </a:t>
          </a:r>
        </a:p>
        <a:p>
          <a:r>
            <a:rPr lang="en-US" sz="1400" dirty="0">
              <a:latin typeface="Times New Roman" pitchFamily="18" charset="0"/>
              <a:cs typeface="Times New Roman" pitchFamily="18" charset="0"/>
            </a:rPr>
            <a:t>C language</a:t>
          </a:r>
        </a:p>
      </dgm:t>
    </dgm:pt>
    <dgm:pt modelId="{43C92AEF-8984-4563-9322-ECFC23433C31}" type="parTrans" cxnId="{2A265E9F-49D2-4D3E-80E3-0CEE41B76DE8}">
      <dgm:prSet/>
      <dgm:spPr/>
      <dgm:t>
        <a:bodyPr/>
        <a:lstStyle/>
        <a:p>
          <a:endParaRPr lang="en-US"/>
        </a:p>
      </dgm:t>
    </dgm:pt>
    <dgm:pt modelId="{206FFDED-F38B-48CE-B8F8-B4F143F22E20}" type="sibTrans" cxnId="{2A265E9F-49D2-4D3E-80E3-0CEE41B76DE8}">
      <dgm:prSet/>
      <dgm:spPr/>
      <dgm:t>
        <a:bodyPr/>
        <a:lstStyle/>
        <a:p>
          <a:endParaRPr lang="en-US"/>
        </a:p>
      </dgm:t>
    </dgm:pt>
    <dgm:pt modelId="{6A42C564-55DF-47D4-B28B-E9BD65BBFE6D}">
      <dgm:prSet phldrT="[Text]" custT="1"/>
      <dgm:spPr/>
      <dgm:t>
        <a:bodyPr/>
        <a:lstStyle/>
        <a:p>
          <a:r>
            <a:rPr lang="en-US" sz="1400" dirty="0">
              <a:latin typeface="Times New Roman" pitchFamily="18" charset="0"/>
              <a:cs typeface="Times New Roman" pitchFamily="18" charset="0"/>
            </a:rPr>
            <a:t>Testing of code with Standard Analytical results</a:t>
          </a:r>
        </a:p>
      </dgm:t>
    </dgm:pt>
    <dgm:pt modelId="{400C5F1C-4E3E-455F-8B47-1DB98441DB46}" type="parTrans" cxnId="{E27CC2DF-9B2C-421B-AB56-A7C55EECD3D4}">
      <dgm:prSet/>
      <dgm:spPr/>
      <dgm:t>
        <a:bodyPr/>
        <a:lstStyle/>
        <a:p>
          <a:endParaRPr lang="en-US"/>
        </a:p>
      </dgm:t>
    </dgm:pt>
    <dgm:pt modelId="{CC6E0AE5-8F40-44A2-AD12-C5F841D627BB}" type="sibTrans" cxnId="{E27CC2DF-9B2C-421B-AB56-A7C55EECD3D4}">
      <dgm:prSet/>
      <dgm:spPr/>
      <dgm:t>
        <a:bodyPr/>
        <a:lstStyle/>
        <a:p>
          <a:endParaRPr lang="en-US"/>
        </a:p>
      </dgm:t>
    </dgm:pt>
    <dgm:pt modelId="{9D9F7B54-7753-4526-8FB3-4358A5E663B7}">
      <dgm:prSet phldrT="[Text]" custT="1"/>
      <dgm:spPr/>
      <dgm:t>
        <a:bodyPr/>
        <a:lstStyle/>
        <a:p>
          <a:r>
            <a:rPr lang="en-US" sz="1400" dirty="0">
              <a:latin typeface="Times New Roman" pitchFamily="18" charset="0"/>
              <a:cs typeface="Times New Roman" pitchFamily="18" charset="0"/>
            </a:rPr>
            <a:t>Validation and improvement of the program</a:t>
          </a:r>
        </a:p>
      </dgm:t>
    </dgm:pt>
    <dgm:pt modelId="{2CABC25E-4392-442D-AC0C-7420B91D587E}" type="parTrans" cxnId="{750ED0E0-8CA0-4588-B37E-73D29118CD6C}">
      <dgm:prSet/>
      <dgm:spPr/>
      <dgm:t>
        <a:bodyPr/>
        <a:lstStyle/>
        <a:p>
          <a:endParaRPr lang="en-US"/>
        </a:p>
      </dgm:t>
    </dgm:pt>
    <dgm:pt modelId="{88D51BC6-89D2-40B3-A2B0-CFBF36631969}" type="sibTrans" cxnId="{750ED0E0-8CA0-4588-B37E-73D29118CD6C}">
      <dgm:prSet/>
      <dgm:spPr/>
      <dgm:t>
        <a:bodyPr/>
        <a:lstStyle/>
        <a:p>
          <a:endParaRPr lang="en-US"/>
        </a:p>
      </dgm:t>
    </dgm:pt>
    <dgm:pt modelId="{07B58276-A19B-4550-9B25-41626F08E7DA}" type="pres">
      <dgm:prSet presAssocID="{5D0D9F47-6BC8-46A5-9F5D-962266EE8CAB}" presName="compositeShape" presStyleCnt="0">
        <dgm:presLayoutVars>
          <dgm:dir/>
          <dgm:resizeHandles/>
        </dgm:presLayoutVars>
      </dgm:prSet>
      <dgm:spPr/>
    </dgm:pt>
    <dgm:pt modelId="{56965F9B-BF16-46B2-BDE8-2F5D340AE233}" type="pres">
      <dgm:prSet presAssocID="{5D0D9F47-6BC8-46A5-9F5D-962266EE8CAB}" presName="pyramid" presStyleLbl="node1" presStyleIdx="0" presStyleCnt="1" custScaleX="143333" custLinFactNeighborX="-392" custLinFactNeighborY="-1471"/>
      <dgm:spPr/>
    </dgm:pt>
    <dgm:pt modelId="{028E5DD8-3B22-41D7-A798-A479CB503A72}" type="pres">
      <dgm:prSet presAssocID="{5D0D9F47-6BC8-46A5-9F5D-962266EE8CAB}" presName="theList" presStyleCnt="0"/>
      <dgm:spPr/>
    </dgm:pt>
    <dgm:pt modelId="{A4CF7D94-A32C-440B-85A8-9CDA7477F5C9}" type="pres">
      <dgm:prSet presAssocID="{5281880B-8FEA-46D6-A854-F7EEC88B5131}" presName="aNode" presStyleLbl="fgAcc1" presStyleIdx="0" presStyleCnt="6" custScaleX="100006" custScaleY="242916">
        <dgm:presLayoutVars>
          <dgm:bulletEnabled val="1"/>
        </dgm:presLayoutVars>
      </dgm:prSet>
      <dgm:spPr/>
    </dgm:pt>
    <dgm:pt modelId="{1461F81D-6985-40FD-82B1-A4DAF372CA77}" type="pres">
      <dgm:prSet presAssocID="{5281880B-8FEA-46D6-A854-F7EEC88B5131}" presName="aSpace" presStyleCnt="0"/>
      <dgm:spPr/>
    </dgm:pt>
    <dgm:pt modelId="{1EB63F1C-73F2-4CEC-A1F8-FB3352F539B6}" type="pres">
      <dgm:prSet presAssocID="{2251EF4A-8809-4187-8B8A-6C05BD5819FB}" presName="aNode" presStyleLbl="fgAcc1" presStyleIdx="1" presStyleCnt="6" custScaleY="115101">
        <dgm:presLayoutVars>
          <dgm:bulletEnabled val="1"/>
        </dgm:presLayoutVars>
      </dgm:prSet>
      <dgm:spPr/>
    </dgm:pt>
    <dgm:pt modelId="{5C6EE43D-A667-49AA-A99C-DFBA364FB61E}" type="pres">
      <dgm:prSet presAssocID="{2251EF4A-8809-4187-8B8A-6C05BD5819FB}" presName="aSpace" presStyleCnt="0"/>
      <dgm:spPr/>
    </dgm:pt>
    <dgm:pt modelId="{71A3FCD3-64AE-4BC5-BD31-5EE46E7640F4}" type="pres">
      <dgm:prSet presAssocID="{FDD05B9C-8D95-422B-B55F-878C11BC4104}" presName="aNode" presStyleLbl="fgAcc1" presStyleIdx="2" presStyleCnt="6" custScaleY="115902">
        <dgm:presLayoutVars>
          <dgm:bulletEnabled val="1"/>
        </dgm:presLayoutVars>
      </dgm:prSet>
      <dgm:spPr/>
    </dgm:pt>
    <dgm:pt modelId="{4424D73D-F2F4-4079-84F1-F789087AAF94}" type="pres">
      <dgm:prSet presAssocID="{FDD05B9C-8D95-422B-B55F-878C11BC4104}" presName="aSpace" presStyleCnt="0"/>
      <dgm:spPr/>
    </dgm:pt>
    <dgm:pt modelId="{EA42123B-ACFE-49C7-B9BD-67EB1D88158F}" type="pres">
      <dgm:prSet presAssocID="{BCBB1FC5-8C3D-44F2-A888-E2C7C7C46A3C}" presName="aNode" presStyleLbl="fgAcc1" presStyleIdx="3" presStyleCnt="6" custScaleY="168339">
        <dgm:presLayoutVars>
          <dgm:bulletEnabled val="1"/>
        </dgm:presLayoutVars>
      </dgm:prSet>
      <dgm:spPr/>
    </dgm:pt>
    <dgm:pt modelId="{06D28894-EE95-4F76-A3FE-6A805AE082D2}" type="pres">
      <dgm:prSet presAssocID="{BCBB1FC5-8C3D-44F2-A888-E2C7C7C46A3C}" presName="aSpace" presStyleCnt="0"/>
      <dgm:spPr/>
    </dgm:pt>
    <dgm:pt modelId="{56708AA3-BB4D-47E3-A874-9462D5BCD208}" type="pres">
      <dgm:prSet presAssocID="{6A42C564-55DF-47D4-B28B-E9BD65BBFE6D}" presName="aNode" presStyleLbl="fgAcc1" presStyleIdx="4" presStyleCnt="6" custScaleY="174135">
        <dgm:presLayoutVars>
          <dgm:bulletEnabled val="1"/>
        </dgm:presLayoutVars>
      </dgm:prSet>
      <dgm:spPr/>
    </dgm:pt>
    <dgm:pt modelId="{F6222DF1-69F3-4886-A6CC-7274CCAD4B58}" type="pres">
      <dgm:prSet presAssocID="{6A42C564-55DF-47D4-B28B-E9BD65BBFE6D}" presName="aSpace" presStyleCnt="0"/>
      <dgm:spPr/>
    </dgm:pt>
    <dgm:pt modelId="{B8E926FC-7564-4ECD-BD85-A01BCB98C52B}" type="pres">
      <dgm:prSet presAssocID="{9D9F7B54-7753-4526-8FB3-4358A5E663B7}" presName="aNode" presStyleLbl="fgAcc1" presStyleIdx="5" presStyleCnt="6" custScaleY="147146">
        <dgm:presLayoutVars>
          <dgm:bulletEnabled val="1"/>
        </dgm:presLayoutVars>
      </dgm:prSet>
      <dgm:spPr/>
    </dgm:pt>
    <dgm:pt modelId="{CDBA14A8-1093-4C79-87DC-77FF5CC0F1FC}" type="pres">
      <dgm:prSet presAssocID="{9D9F7B54-7753-4526-8FB3-4358A5E663B7}" presName="aSpace" presStyleCnt="0"/>
      <dgm:spPr/>
    </dgm:pt>
  </dgm:ptLst>
  <dgm:cxnLst>
    <dgm:cxn modelId="{C9E5BF27-84A6-4AB4-B12B-8D790CDA3F80}" type="presOf" srcId="{6A42C564-55DF-47D4-B28B-E9BD65BBFE6D}" destId="{56708AA3-BB4D-47E3-A874-9462D5BCD208}" srcOrd="0" destOrd="0" presId="urn:microsoft.com/office/officeart/2005/8/layout/pyramid2"/>
    <dgm:cxn modelId="{7B703D3E-9E43-4534-90F9-FAC1F60C443D}" srcId="{5D0D9F47-6BC8-46A5-9F5D-962266EE8CAB}" destId="{2251EF4A-8809-4187-8B8A-6C05BD5819FB}" srcOrd="1" destOrd="0" parTransId="{F8BDAAFC-16C8-41EA-8B31-E96FC31E0FE1}" sibTransId="{6A5E66B6-9D93-43AD-B367-98A0F21EC174}"/>
    <dgm:cxn modelId="{6878D94F-191A-4A4A-96F6-B6D79745D445}" srcId="{5D0D9F47-6BC8-46A5-9F5D-962266EE8CAB}" destId="{FDD05B9C-8D95-422B-B55F-878C11BC4104}" srcOrd="2" destOrd="0" parTransId="{F038C380-1934-4FE8-BBE3-BB5B963705B3}" sibTransId="{F8D2603A-E236-4028-BBDD-573246F8F306}"/>
    <dgm:cxn modelId="{CC0A3755-63C9-42FA-AA89-6D51E807140F}" type="presOf" srcId="{5281880B-8FEA-46D6-A854-F7EEC88B5131}" destId="{A4CF7D94-A32C-440B-85A8-9CDA7477F5C9}" srcOrd="0" destOrd="0" presId="urn:microsoft.com/office/officeart/2005/8/layout/pyramid2"/>
    <dgm:cxn modelId="{52E06656-3186-4B86-B2D0-81F99888C5F6}" type="presOf" srcId="{FDD05B9C-8D95-422B-B55F-878C11BC4104}" destId="{71A3FCD3-64AE-4BC5-BD31-5EE46E7640F4}" srcOrd="0" destOrd="0" presId="urn:microsoft.com/office/officeart/2005/8/layout/pyramid2"/>
    <dgm:cxn modelId="{DB977787-F0EC-488E-AFD8-14F1306EBD8B}" type="presOf" srcId="{2251EF4A-8809-4187-8B8A-6C05BD5819FB}" destId="{1EB63F1C-73F2-4CEC-A1F8-FB3352F539B6}" srcOrd="0" destOrd="0" presId="urn:microsoft.com/office/officeart/2005/8/layout/pyramid2"/>
    <dgm:cxn modelId="{2A265E9F-49D2-4D3E-80E3-0CEE41B76DE8}" srcId="{5D0D9F47-6BC8-46A5-9F5D-962266EE8CAB}" destId="{BCBB1FC5-8C3D-44F2-A888-E2C7C7C46A3C}" srcOrd="3" destOrd="0" parTransId="{43C92AEF-8984-4563-9322-ECFC23433C31}" sibTransId="{206FFDED-F38B-48CE-B8F8-B4F143F22E20}"/>
    <dgm:cxn modelId="{BFBDC1AE-86A2-4E30-A629-9B3DFE922E2D}" type="presOf" srcId="{9D9F7B54-7753-4526-8FB3-4358A5E663B7}" destId="{B8E926FC-7564-4ECD-BD85-A01BCB98C52B}" srcOrd="0" destOrd="0" presId="urn:microsoft.com/office/officeart/2005/8/layout/pyramid2"/>
    <dgm:cxn modelId="{39FC69D2-F04A-43FB-8379-D1DFE0F1F112}" type="presOf" srcId="{BCBB1FC5-8C3D-44F2-A888-E2C7C7C46A3C}" destId="{EA42123B-ACFE-49C7-B9BD-67EB1D88158F}" srcOrd="0" destOrd="0" presId="urn:microsoft.com/office/officeart/2005/8/layout/pyramid2"/>
    <dgm:cxn modelId="{E27CC2DF-9B2C-421B-AB56-A7C55EECD3D4}" srcId="{5D0D9F47-6BC8-46A5-9F5D-962266EE8CAB}" destId="{6A42C564-55DF-47D4-B28B-E9BD65BBFE6D}" srcOrd="4" destOrd="0" parTransId="{400C5F1C-4E3E-455F-8B47-1DB98441DB46}" sibTransId="{CC6E0AE5-8F40-44A2-AD12-C5F841D627BB}"/>
    <dgm:cxn modelId="{750ED0E0-8CA0-4588-B37E-73D29118CD6C}" srcId="{5D0D9F47-6BC8-46A5-9F5D-962266EE8CAB}" destId="{9D9F7B54-7753-4526-8FB3-4358A5E663B7}" srcOrd="5" destOrd="0" parTransId="{2CABC25E-4392-442D-AC0C-7420B91D587E}" sibTransId="{88D51BC6-89D2-40B3-A2B0-CFBF36631969}"/>
    <dgm:cxn modelId="{788AF8E6-9D20-4A42-9985-34BAE403575A}" srcId="{5D0D9F47-6BC8-46A5-9F5D-962266EE8CAB}" destId="{5281880B-8FEA-46D6-A854-F7EEC88B5131}" srcOrd="0" destOrd="0" parTransId="{29248398-8063-4D2E-B793-43FA046F6321}" sibTransId="{27CFD78F-7E6E-498A-BFC1-19DFA3D553D5}"/>
    <dgm:cxn modelId="{AE94BFF2-8B45-469D-91FE-36C2704978E8}" type="presOf" srcId="{5D0D9F47-6BC8-46A5-9F5D-962266EE8CAB}" destId="{07B58276-A19B-4550-9B25-41626F08E7DA}" srcOrd="0" destOrd="0" presId="urn:microsoft.com/office/officeart/2005/8/layout/pyramid2"/>
    <dgm:cxn modelId="{FF8E14DA-986F-4669-B5D9-FF71E17273E5}" type="presParOf" srcId="{07B58276-A19B-4550-9B25-41626F08E7DA}" destId="{56965F9B-BF16-46B2-BDE8-2F5D340AE233}" srcOrd="0" destOrd="0" presId="urn:microsoft.com/office/officeart/2005/8/layout/pyramid2"/>
    <dgm:cxn modelId="{83CAA873-E31C-43EA-95A5-C8FB4D7FD058}" type="presParOf" srcId="{07B58276-A19B-4550-9B25-41626F08E7DA}" destId="{028E5DD8-3B22-41D7-A798-A479CB503A72}" srcOrd="1" destOrd="0" presId="urn:microsoft.com/office/officeart/2005/8/layout/pyramid2"/>
    <dgm:cxn modelId="{CCA2C6D3-5DAE-44AB-9521-EBED6AC3332E}" type="presParOf" srcId="{028E5DD8-3B22-41D7-A798-A479CB503A72}" destId="{A4CF7D94-A32C-440B-85A8-9CDA7477F5C9}" srcOrd="0" destOrd="0" presId="urn:microsoft.com/office/officeart/2005/8/layout/pyramid2"/>
    <dgm:cxn modelId="{B487664E-EADE-4E8A-990B-003D6DADA02B}" type="presParOf" srcId="{028E5DD8-3B22-41D7-A798-A479CB503A72}" destId="{1461F81D-6985-40FD-82B1-A4DAF372CA77}" srcOrd="1" destOrd="0" presId="urn:microsoft.com/office/officeart/2005/8/layout/pyramid2"/>
    <dgm:cxn modelId="{365CD927-B731-4CAC-8395-387D2C487DF8}" type="presParOf" srcId="{028E5DD8-3B22-41D7-A798-A479CB503A72}" destId="{1EB63F1C-73F2-4CEC-A1F8-FB3352F539B6}" srcOrd="2" destOrd="0" presId="urn:microsoft.com/office/officeart/2005/8/layout/pyramid2"/>
    <dgm:cxn modelId="{3106F24D-9152-4C76-A858-3CCD57D66105}" type="presParOf" srcId="{028E5DD8-3B22-41D7-A798-A479CB503A72}" destId="{5C6EE43D-A667-49AA-A99C-DFBA364FB61E}" srcOrd="3" destOrd="0" presId="urn:microsoft.com/office/officeart/2005/8/layout/pyramid2"/>
    <dgm:cxn modelId="{B69986E5-63DF-40D3-9691-DBDC526CA895}" type="presParOf" srcId="{028E5DD8-3B22-41D7-A798-A479CB503A72}" destId="{71A3FCD3-64AE-4BC5-BD31-5EE46E7640F4}" srcOrd="4" destOrd="0" presId="urn:microsoft.com/office/officeart/2005/8/layout/pyramid2"/>
    <dgm:cxn modelId="{879DD82F-6CAE-4C49-BA94-F1785D2E3270}" type="presParOf" srcId="{028E5DD8-3B22-41D7-A798-A479CB503A72}" destId="{4424D73D-F2F4-4079-84F1-F789087AAF94}" srcOrd="5" destOrd="0" presId="urn:microsoft.com/office/officeart/2005/8/layout/pyramid2"/>
    <dgm:cxn modelId="{5243A788-A73E-46B3-9CF4-36F8E49AA9A9}" type="presParOf" srcId="{028E5DD8-3B22-41D7-A798-A479CB503A72}" destId="{EA42123B-ACFE-49C7-B9BD-67EB1D88158F}" srcOrd="6" destOrd="0" presId="urn:microsoft.com/office/officeart/2005/8/layout/pyramid2"/>
    <dgm:cxn modelId="{1B1F0D60-0E67-4E23-8A7F-573BE88A0CA7}" type="presParOf" srcId="{028E5DD8-3B22-41D7-A798-A479CB503A72}" destId="{06D28894-EE95-4F76-A3FE-6A805AE082D2}" srcOrd="7" destOrd="0" presId="urn:microsoft.com/office/officeart/2005/8/layout/pyramid2"/>
    <dgm:cxn modelId="{A842A73D-5F2F-436C-8CA7-06CA4E56199C}" type="presParOf" srcId="{028E5DD8-3B22-41D7-A798-A479CB503A72}" destId="{56708AA3-BB4D-47E3-A874-9462D5BCD208}" srcOrd="8" destOrd="0" presId="urn:microsoft.com/office/officeart/2005/8/layout/pyramid2"/>
    <dgm:cxn modelId="{BCA51D64-3F42-4F23-8AFA-8D02957E6BFA}" type="presParOf" srcId="{028E5DD8-3B22-41D7-A798-A479CB503A72}" destId="{F6222DF1-69F3-4886-A6CC-7274CCAD4B58}" srcOrd="9" destOrd="0" presId="urn:microsoft.com/office/officeart/2005/8/layout/pyramid2"/>
    <dgm:cxn modelId="{33D4B48C-CE6C-4CB2-92DA-7A6F85171F3C}" type="presParOf" srcId="{028E5DD8-3B22-41D7-A798-A479CB503A72}" destId="{B8E926FC-7564-4ECD-BD85-A01BCB98C52B}" srcOrd="10" destOrd="0" presId="urn:microsoft.com/office/officeart/2005/8/layout/pyramid2"/>
    <dgm:cxn modelId="{7C5FF8B2-0C14-4A2E-BC89-4568E5A1407A}" type="presParOf" srcId="{028E5DD8-3B22-41D7-A798-A479CB503A72}" destId="{CDBA14A8-1093-4C79-87DC-77FF5CC0F1FC}" srcOrd="11"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965F9B-BF16-46B2-BDE8-2F5D340AE233}">
      <dsp:nvSpPr>
        <dsp:cNvPr id="0" name=""/>
        <dsp:cNvSpPr/>
      </dsp:nvSpPr>
      <dsp:spPr>
        <a:xfrm>
          <a:off x="381016" y="0"/>
          <a:ext cx="7426942" cy="5181600"/>
        </a:xfrm>
        <a:prstGeom prst="triangl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4CF7D94-A32C-440B-85A8-9CDA7477F5C9}">
      <dsp:nvSpPr>
        <dsp:cNvPr id="0" name=""/>
        <dsp:cNvSpPr/>
      </dsp:nvSpPr>
      <dsp:spPr>
        <a:xfrm>
          <a:off x="4114698" y="520263"/>
          <a:ext cx="3368242" cy="968604"/>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endParaRPr lang="en-US" sz="1600" kern="1200" dirty="0">
            <a:latin typeface="Times New Roman" pitchFamily="18" charset="0"/>
            <a:cs typeface="Times New Roman" pitchFamily="18" charset="0"/>
          </a:endParaRPr>
        </a:p>
        <a:p>
          <a:pPr marL="0" lvl="0" indent="0" algn="ctr" defTabSz="711200">
            <a:lnSpc>
              <a:spcPct val="100000"/>
            </a:lnSpc>
            <a:spcBef>
              <a:spcPct val="0"/>
            </a:spcBef>
            <a:spcAft>
              <a:spcPct val="35000"/>
            </a:spcAft>
            <a:buNone/>
          </a:pPr>
          <a:r>
            <a:rPr lang="en-US" sz="1600" kern="1200" dirty="0">
              <a:latin typeface="Times New Roman" pitchFamily="18" charset="0"/>
              <a:cs typeface="Times New Roman" pitchFamily="18" charset="0"/>
            </a:rPr>
            <a:t>Problem Identification  </a:t>
          </a:r>
        </a:p>
        <a:p>
          <a:pPr marL="0" lvl="0" indent="0" algn="ctr" defTabSz="711200">
            <a:lnSpc>
              <a:spcPct val="100000"/>
            </a:lnSpc>
            <a:spcBef>
              <a:spcPct val="0"/>
            </a:spcBef>
            <a:spcAft>
              <a:spcPct val="35000"/>
            </a:spcAft>
            <a:buNone/>
          </a:pPr>
          <a:r>
            <a:rPr lang="en-US" sz="1600" kern="1200" dirty="0">
              <a:latin typeface="Times New Roman" pitchFamily="18" charset="0"/>
              <a:cs typeface="Times New Roman" pitchFamily="18" charset="0"/>
            </a:rPr>
            <a:t>and </a:t>
          </a:r>
        </a:p>
        <a:p>
          <a:pPr marL="0" lvl="0" indent="0" algn="ctr" defTabSz="711200">
            <a:lnSpc>
              <a:spcPct val="100000"/>
            </a:lnSpc>
            <a:spcBef>
              <a:spcPct val="0"/>
            </a:spcBef>
            <a:spcAft>
              <a:spcPct val="35000"/>
            </a:spcAft>
            <a:buNone/>
          </a:pPr>
          <a:r>
            <a:rPr lang="en-US" sz="1600" kern="1200" dirty="0">
              <a:latin typeface="Times New Roman" pitchFamily="18" charset="0"/>
              <a:cs typeface="Times New Roman" pitchFamily="18" charset="0"/>
            </a:rPr>
            <a:t>         Definition of objective	</a:t>
          </a:r>
          <a:r>
            <a:rPr lang="en-US" sz="1700" kern="1200" dirty="0"/>
            <a:t>	</a:t>
          </a:r>
        </a:p>
      </dsp:txBody>
      <dsp:txXfrm>
        <a:off x="4161981" y="567546"/>
        <a:ext cx="3273676" cy="874038"/>
      </dsp:txXfrm>
    </dsp:sp>
    <dsp:sp modelId="{1EB63F1C-73F2-4CEC-A1F8-FB3352F539B6}">
      <dsp:nvSpPr>
        <dsp:cNvPr id="0" name=""/>
        <dsp:cNvSpPr/>
      </dsp:nvSpPr>
      <dsp:spPr>
        <a:xfrm>
          <a:off x="4114800" y="1538709"/>
          <a:ext cx="3368040" cy="458954"/>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Times New Roman" pitchFamily="18" charset="0"/>
              <a:cs typeface="Times New Roman" pitchFamily="18" charset="0"/>
            </a:rPr>
            <a:t>Literature Survey</a:t>
          </a:r>
        </a:p>
      </dsp:txBody>
      <dsp:txXfrm>
        <a:off x="4137204" y="1561113"/>
        <a:ext cx="3323232" cy="414146"/>
      </dsp:txXfrm>
    </dsp:sp>
    <dsp:sp modelId="{71A3FCD3-64AE-4BC5-BD31-5EE46E7640F4}">
      <dsp:nvSpPr>
        <dsp:cNvPr id="0" name=""/>
        <dsp:cNvSpPr/>
      </dsp:nvSpPr>
      <dsp:spPr>
        <a:xfrm>
          <a:off x="4114800" y="2047506"/>
          <a:ext cx="3368040" cy="462147"/>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Times New Roman" pitchFamily="18" charset="0"/>
              <a:cs typeface="Times New Roman" pitchFamily="18" charset="0"/>
            </a:rPr>
            <a:t>Finite Element Formulation</a:t>
          </a:r>
        </a:p>
      </dsp:txBody>
      <dsp:txXfrm>
        <a:off x="4137360" y="2070066"/>
        <a:ext cx="3322920" cy="417027"/>
      </dsp:txXfrm>
    </dsp:sp>
    <dsp:sp modelId="{EA42123B-ACFE-49C7-B9BD-67EB1D88158F}">
      <dsp:nvSpPr>
        <dsp:cNvPr id="0" name=""/>
        <dsp:cNvSpPr/>
      </dsp:nvSpPr>
      <dsp:spPr>
        <a:xfrm>
          <a:off x="4114800" y="2559496"/>
          <a:ext cx="3368040" cy="671235"/>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Times New Roman" pitchFamily="18" charset="0"/>
              <a:cs typeface="Times New Roman" pitchFamily="18" charset="0"/>
            </a:rPr>
            <a:t>Generation of FEM code in </a:t>
          </a:r>
        </a:p>
        <a:p>
          <a:pPr marL="0" lvl="0" indent="0" algn="ctr" defTabSz="622300">
            <a:lnSpc>
              <a:spcPct val="90000"/>
            </a:lnSpc>
            <a:spcBef>
              <a:spcPct val="0"/>
            </a:spcBef>
            <a:spcAft>
              <a:spcPct val="35000"/>
            </a:spcAft>
            <a:buNone/>
          </a:pPr>
          <a:r>
            <a:rPr lang="en-US" sz="1400" kern="1200" dirty="0">
              <a:latin typeface="Times New Roman" pitchFamily="18" charset="0"/>
              <a:cs typeface="Times New Roman" pitchFamily="18" charset="0"/>
            </a:rPr>
            <a:t>C language</a:t>
          </a:r>
        </a:p>
      </dsp:txBody>
      <dsp:txXfrm>
        <a:off x="4147567" y="2592263"/>
        <a:ext cx="3302506" cy="605701"/>
      </dsp:txXfrm>
    </dsp:sp>
    <dsp:sp modelId="{56708AA3-BB4D-47E3-A874-9462D5BCD208}">
      <dsp:nvSpPr>
        <dsp:cNvPr id="0" name=""/>
        <dsp:cNvSpPr/>
      </dsp:nvSpPr>
      <dsp:spPr>
        <a:xfrm>
          <a:off x="4114800" y="3280574"/>
          <a:ext cx="3368040" cy="694346"/>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Times New Roman" pitchFamily="18" charset="0"/>
              <a:cs typeface="Times New Roman" pitchFamily="18" charset="0"/>
            </a:rPr>
            <a:t>Testing of code with Standard Analytical results</a:t>
          </a:r>
        </a:p>
      </dsp:txBody>
      <dsp:txXfrm>
        <a:off x="4148695" y="3314469"/>
        <a:ext cx="3300250" cy="626556"/>
      </dsp:txXfrm>
    </dsp:sp>
    <dsp:sp modelId="{B8E926FC-7564-4ECD-BD85-A01BCB98C52B}">
      <dsp:nvSpPr>
        <dsp:cNvPr id="0" name=""/>
        <dsp:cNvSpPr/>
      </dsp:nvSpPr>
      <dsp:spPr>
        <a:xfrm>
          <a:off x="4114800" y="4024763"/>
          <a:ext cx="3368040" cy="586730"/>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Times New Roman" pitchFamily="18" charset="0"/>
              <a:cs typeface="Times New Roman" pitchFamily="18" charset="0"/>
            </a:rPr>
            <a:t>Validation and improvement of the program</a:t>
          </a:r>
        </a:p>
      </dsp:txBody>
      <dsp:txXfrm>
        <a:off x="4143442" y="4053405"/>
        <a:ext cx="3310756" cy="529446"/>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D88C30D-06C0-4536-812A-C295DB2E2A8C}" type="datetimeFigureOut">
              <a:rPr lang="en-US" smtClean="0"/>
              <a:pPr/>
              <a:t>5/21/2025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26468E-E654-49E4-9F23-79D59E829031}"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88C30D-06C0-4536-812A-C295DB2E2A8C}" type="datetimeFigureOut">
              <a:rPr lang="en-US" smtClean="0"/>
              <a:pPr/>
              <a:t>5/21/2025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26468E-E654-49E4-9F23-79D59E829031}"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88C30D-06C0-4536-812A-C295DB2E2A8C}" type="datetimeFigureOut">
              <a:rPr lang="en-US" smtClean="0"/>
              <a:pPr/>
              <a:t>5/21/2025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26468E-E654-49E4-9F23-79D59E829031}"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D88C30D-06C0-4536-812A-C295DB2E2A8C}" type="datetimeFigureOut">
              <a:rPr lang="en-US" smtClean="0"/>
              <a:pPr/>
              <a:t>5/21/2025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626468E-E654-49E4-9F23-79D59E829031}"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D88C30D-06C0-4536-812A-C295DB2E2A8C}" type="datetimeFigureOut">
              <a:rPr lang="en-US" smtClean="0"/>
              <a:pPr/>
              <a:t>5/21/2025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626468E-E654-49E4-9F23-79D59E829031}"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D88C30D-06C0-4536-812A-C295DB2E2A8C}" type="datetimeFigureOut">
              <a:rPr lang="en-US" smtClean="0"/>
              <a:pPr/>
              <a:t>5/21/2025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626468E-E654-49E4-9F23-79D59E829031}"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88C30D-06C0-4536-812A-C295DB2E2A8C}" type="datetimeFigureOut">
              <a:rPr lang="en-US" smtClean="0"/>
              <a:pPr/>
              <a:t>5/21/2025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626468E-E654-49E4-9F23-79D59E829031}"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88C30D-06C0-4536-812A-C295DB2E2A8C}" type="datetimeFigureOut">
              <a:rPr lang="en-US" smtClean="0"/>
              <a:pPr/>
              <a:t>5/21/2025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626468E-E654-49E4-9F23-79D59E829031}"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88C30D-06C0-4536-812A-C295DB2E2A8C}" type="datetimeFigureOut">
              <a:rPr lang="en-US" smtClean="0"/>
              <a:pPr/>
              <a:t>5/21/2025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626468E-E654-49E4-9F23-79D59E829031}"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88C30D-06C0-4536-812A-C295DB2E2A8C}" type="datetimeFigureOut">
              <a:rPr lang="en-US" smtClean="0"/>
              <a:pPr/>
              <a:t>5/21/2025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26468E-E654-49E4-9F23-79D59E829031}"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88C30D-06C0-4536-812A-C295DB2E2A8C}" type="datetimeFigureOut">
              <a:rPr lang="en-US" smtClean="0"/>
              <a:pPr/>
              <a:t>5/21/2025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26468E-E654-49E4-9F23-79D59E82903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88C30D-06C0-4536-812A-C295DB2E2A8C}" type="datetimeFigureOut">
              <a:rPr lang="en-US" smtClean="0"/>
              <a:pPr/>
              <a:t>5/21/2025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26468E-E654-49E4-9F23-79D59E829031}"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gif"/><Relationship Id="rId1" Type="http://schemas.openxmlformats.org/officeDocument/2006/relationships/slideLayout" Target="../slideLayouts/slideLayout2.xml"/><Relationship Id="rId4" Type="http://schemas.openxmlformats.org/officeDocument/2006/relationships/image" Target="../media/image6.gif"/></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microsoft.com/office/2007/relationships/hdphoto" Target="NULL"/><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554069"/>
            <a:ext cx="7772400" cy="1847850"/>
          </a:xfrm>
        </p:spPr>
        <p:txBody>
          <a:bodyPr>
            <a:normAutofit/>
          </a:bodyPr>
          <a:lstStyle/>
          <a:p>
            <a:r>
              <a:rPr lang="en-US" sz="3600" dirty="0">
                <a:solidFill>
                  <a:schemeClr val="accent1">
                    <a:lumMod val="50000"/>
                  </a:schemeClr>
                </a:solidFill>
                <a:latin typeface="Times New Roman" pitchFamily="18" charset="0"/>
                <a:cs typeface="Times New Roman" pitchFamily="18" charset="0"/>
              </a:rPr>
              <a:t>Integrated thermo structural analysis of Advanced composite structures</a:t>
            </a:r>
          </a:p>
        </p:txBody>
      </p:sp>
      <p:sp>
        <p:nvSpPr>
          <p:cNvPr id="3" name="Subtitle 2"/>
          <p:cNvSpPr>
            <a:spLocks noGrp="1"/>
          </p:cNvSpPr>
          <p:nvPr>
            <p:ph type="subTitle" idx="1"/>
          </p:nvPr>
        </p:nvSpPr>
        <p:spPr>
          <a:xfrm>
            <a:off x="609600" y="5410200"/>
            <a:ext cx="8077200" cy="1219200"/>
          </a:xfrm>
        </p:spPr>
        <p:txBody>
          <a:bodyPr>
            <a:normAutofit/>
          </a:bodyPr>
          <a:lstStyle/>
          <a:p>
            <a:pPr algn="just"/>
            <a:r>
              <a:rPr lang="en-US" sz="1600" b="1" dirty="0">
                <a:solidFill>
                  <a:schemeClr val="tx1"/>
                </a:solidFill>
                <a:latin typeface="Times New Roman" pitchFamily="18" charset="0"/>
                <a:cs typeface="Times New Roman" pitchFamily="18" charset="0"/>
              </a:rPr>
              <a:t>Note:   The code is developed as part of the master’s thesis work. The developed code was submitted in April of 2019</a:t>
            </a:r>
          </a:p>
        </p:txBody>
      </p:sp>
      <p:sp>
        <p:nvSpPr>
          <p:cNvPr id="5" name="Rectangle 4"/>
          <p:cNvSpPr/>
          <p:nvPr/>
        </p:nvSpPr>
        <p:spPr>
          <a:xfrm>
            <a:off x="152400" y="381000"/>
            <a:ext cx="1219200" cy="1295400"/>
          </a:xfrm>
          <a:prstGeom prst="rect">
            <a:avLst/>
          </a:prstGeom>
          <a:blipFill>
            <a:blip r:embed="rId2"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7620000" y="457200"/>
            <a:ext cx="1371600" cy="12954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524000" y="1703457"/>
            <a:ext cx="5715000" cy="707886"/>
          </a:xfrm>
          <a:prstGeom prst="rect">
            <a:avLst/>
          </a:prstGeom>
          <a:noFill/>
        </p:spPr>
        <p:txBody>
          <a:bodyPr wrap="square" rtlCol="0">
            <a:spAutoFit/>
          </a:bodyPr>
          <a:lstStyle/>
          <a:p>
            <a:pPr algn="ctr"/>
            <a:endParaRPr lang="en-US" sz="2000" b="1" dirty="0">
              <a:solidFill>
                <a:schemeClr val="accent1">
                  <a:lumMod val="50000"/>
                </a:schemeClr>
              </a:solidFill>
              <a:latin typeface="Times New Roman" pitchFamily="18" charset="0"/>
              <a:cs typeface="Times New Roman" pitchFamily="18" charset="0"/>
            </a:endParaRPr>
          </a:p>
          <a:p>
            <a:pPr algn="ctr"/>
            <a:r>
              <a:rPr lang="en-US" sz="2000" b="1" dirty="0">
                <a:solidFill>
                  <a:schemeClr val="accent1">
                    <a:lumMod val="50000"/>
                  </a:schemeClr>
                </a:solidFill>
                <a:latin typeface="Times New Roman" pitchFamily="18" charset="0"/>
                <a:cs typeface="Times New Roman" pitchFamily="18" charset="0"/>
              </a:rPr>
              <a:t>(Presentation on the capabilities of the FEM code) </a:t>
            </a:r>
            <a:r>
              <a:rPr lang="en-US" sz="2000" dirty="0">
                <a:solidFill>
                  <a:schemeClr val="accent1">
                    <a:lumMod val="50000"/>
                  </a:schemeClr>
                </a:solidFill>
                <a:latin typeface="Times New Roman" pitchFamily="18" charset="0"/>
                <a:cs typeface="Times New Roman" pitchFamily="18" charset="0"/>
              </a:rPr>
              <a:t> </a:t>
            </a:r>
          </a:p>
        </p:txBody>
      </p:sp>
      <p:sp>
        <p:nvSpPr>
          <p:cNvPr id="8" name="TextBox 7"/>
          <p:cNvSpPr txBox="1"/>
          <p:nvPr/>
        </p:nvSpPr>
        <p:spPr>
          <a:xfrm>
            <a:off x="1676400" y="914400"/>
            <a:ext cx="5564857" cy="646331"/>
          </a:xfrm>
          <a:prstGeom prst="rect">
            <a:avLst/>
          </a:prstGeom>
          <a:noFill/>
        </p:spPr>
        <p:txBody>
          <a:bodyPr wrap="none" rtlCol="0">
            <a:spAutoFit/>
          </a:bodyPr>
          <a:lstStyle/>
          <a:p>
            <a:pPr algn="ctr"/>
            <a:r>
              <a:rPr lang="en-US" b="1" dirty="0">
                <a:latin typeface="Times New Roman" pitchFamily="18" charset="0"/>
                <a:cs typeface="Times New Roman" pitchFamily="18" charset="0"/>
              </a:rPr>
              <a:t>ENGINEERING  DESIGN  DIVISION</a:t>
            </a:r>
          </a:p>
          <a:p>
            <a:pPr algn="ctr"/>
            <a:r>
              <a:rPr lang="en-US" b="1" dirty="0">
                <a:latin typeface="Times New Roman" pitchFamily="18" charset="0"/>
                <a:cs typeface="Times New Roman" pitchFamily="18" charset="0"/>
              </a:rPr>
              <a:t>DEPARTMENT OF MECHANICAL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990600"/>
            <a:ext cx="8229600" cy="868362"/>
          </a:xfrm>
        </p:spPr>
        <p:txBody>
          <a:bodyPr>
            <a:noAutofit/>
          </a:bodyPr>
          <a:lstStyle/>
          <a:p>
            <a:pPr algn="l"/>
            <a:r>
              <a:rPr lang="en-US" sz="4000" dirty="0">
                <a:solidFill>
                  <a:schemeClr val="accent1">
                    <a:lumMod val="50000"/>
                  </a:schemeClr>
                </a:solidFill>
                <a:latin typeface="Times New Roman" pitchFamily="18" charset="0"/>
                <a:cs typeface="Times New Roman" pitchFamily="18" charset="0"/>
              </a:rPr>
              <a:t>OBJECTIVE</a:t>
            </a:r>
            <a:br>
              <a:rPr lang="en-US" sz="4000" dirty="0">
                <a:solidFill>
                  <a:schemeClr val="accent1">
                    <a:lumMod val="50000"/>
                  </a:schemeClr>
                </a:solidFill>
                <a:latin typeface="Times New Roman" pitchFamily="18" charset="0"/>
                <a:cs typeface="Times New Roman" pitchFamily="18" charset="0"/>
              </a:rPr>
            </a:br>
            <a:endParaRPr lang="en-US" sz="4000" dirty="0">
              <a:solidFill>
                <a:schemeClr val="accent1">
                  <a:lumMod val="50000"/>
                </a:schemeClr>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lnSpc>
                <a:spcPct val="210000"/>
              </a:lnSpc>
              <a:buNone/>
            </a:pPr>
            <a:r>
              <a:rPr lang="en-US" dirty="0"/>
              <a:t>		</a:t>
            </a:r>
            <a:r>
              <a:rPr lang="en-US" sz="2200" dirty="0">
                <a:latin typeface="Times New Roman" pitchFamily="18" charset="0"/>
                <a:cs typeface="Times New Roman" pitchFamily="18" charset="0"/>
              </a:rPr>
              <a:t>	The aim is to develop a Finite Element code to compute the response of Functional Graded Material structures, under the action of combined mechanical and thermal loading. The capability is developed as part of the COMSAP package.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dirty="0">
                <a:solidFill>
                  <a:srgbClr val="002060"/>
                </a:solidFill>
                <a:latin typeface="Times New Roman" pitchFamily="18" charset="0"/>
                <a:cs typeface="Times New Roman" pitchFamily="18" charset="0"/>
              </a:rPr>
              <a:t>INTRODUCTION</a:t>
            </a:r>
          </a:p>
        </p:txBody>
      </p:sp>
      <p:sp>
        <p:nvSpPr>
          <p:cNvPr id="3" name="Content Placeholder 2"/>
          <p:cNvSpPr>
            <a:spLocks noGrp="1"/>
          </p:cNvSpPr>
          <p:nvPr>
            <p:ph idx="1"/>
          </p:nvPr>
        </p:nvSpPr>
        <p:spPr/>
        <p:txBody>
          <a:bodyPr>
            <a:normAutofit/>
          </a:bodyPr>
          <a:lstStyle/>
          <a:p>
            <a:pPr algn="just">
              <a:lnSpc>
                <a:spcPct val="200000"/>
              </a:lnSpc>
              <a:buNone/>
            </a:pPr>
            <a:r>
              <a:rPr lang="en-US" sz="1600" dirty="0"/>
              <a:t>		</a:t>
            </a:r>
            <a:r>
              <a:rPr lang="en-US" sz="1800" b="1" i="1" dirty="0">
                <a:latin typeface="Times New Roman" pitchFamily="18" charset="0"/>
                <a:cs typeface="Times New Roman" pitchFamily="18" charset="0"/>
              </a:rPr>
              <a:t>COMSAP</a:t>
            </a:r>
            <a:r>
              <a:rPr lang="en-US" sz="1800" dirty="0">
                <a:latin typeface="Times New Roman" pitchFamily="18" charset="0"/>
                <a:cs typeface="Times New Roman" pitchFamily="18" charset="0"/>
              </a:rPr>
              <a:t> package is developed to execute numerical analysis of structures. The package is being developed to facilitate </a:t>
            </a:r>
            <a:r>
              <a:rPr lang="en-US" sz="1800" b="1" i="1" dirty="0">
                <a:latin typeface="Times New Roman" pitchFamily="18" charset="0"/>
                <a:cs typeface="Times New Roman" pitchFamily="18" charset="0"/>
              </a:rPr>
              <a:t>direct modeling  </a:t>
            </a:r>
            <a:r>
              <a:rPr lang="en-US" sz="1800" dirty="0">
                <a:latin typeface="Times New Roman" pitchFamily="18" charset="0"/>
                <a:cs typeface="Times New Roman" pitchFamily="18" charset="0"/>
              </a:rPr>
              <a:t>and </a:t>
            </a:r>
            <a:r>
              <a:rPr lang="en-US" sz="1800" b="1" i="1" dirty="0">
                <a:latin typeface="Times New Roman" pitchFamily="18" charset="0"/>
                <a:cs typeface="Times New Roman" pitchFamily="18" charset="0"/>
              </a:rPr>
              <a:t>analysis</a:t>
            </a:r>
            <a:r>
              <a:rPr lang="en-US" sz="1800" dirty="0">
                <a:latin typeface="Times New Roman" pitchFamily="18" charset="0"/>
                <a:cs typeface="Times New Roman" pitchFamily="18" charset="0"/>
              </a:rPr>
              <a:t> of </a:t>
            </a:r>
            <a:r>
              <a:rPr lang="en-US" sz="1800" i="1" dirty="0">
                <a:latin typeface="Times New Roman" pitchFamily="18" charset="0"/>
                <a:cs typeface="Times New Roman" pitchFamily="18" charset="0"/>
              </a:rPr>
              <a:t>Functionally Graded material (FGM) </a:t>
            </a:r>
            <a:r>
              <a:rPr lang="en-US" sz="1800" dirty="0">
                <a:latin typeface="Times New Roman" pitchFamily="18" charset="0"/>
                <a:cs typeface="Times New Roman" pitchFamily="18" charset="0"/>
              </a:rPr>
              <a:t>structures. The package is also equipped to analyse more common and conventional materials like monolithic, composites, etc. Currently this package is used as a tool in academics. </a:t>
            </a:r>
          </a:p>
          <a:p>
            <a:pPr algn="just">
              <a:lnSpc>
                <a:spcPct val="200000"/>
              </a:lnSpc>
              <a:buNone/>
            </a:pPr>
            <a:r>
              <a:rPr lang="en-US" sz="1800" dirty="0">
                <a:latin typeface="Times New Roman" pitchFamily="18" charset="0"/>
                <a:cs typeface="Times New Roman" pitchFamily="18" charset="0"/>
              </a:rPr>
              <a:t>		The aim of the work is to construct a code for integrated thermal and structural analysis and augment it with the existing  COMSAP package. This module is to be developed in C-language.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dirty="0">
                <a:solidFill>
                  <a:schemeClr val="tx2">
                    <a:lumMod val="50000"/>
                  </a:schemeClr>
                </a:solidFill>
                <a:latin typeface="Times New Roman" pitchFamily="18" charset="0"/>
                <a:cs typeface="Times New Roman" pitchFamily="18" charset="0"/>
              </a:rPr>
              <a:t>Research gap</a:t>
            </a:r>
          </a:p>
        </p:txBody>
      </p:sp>
      <p:sp>
        <p:nvSpPr>
          <p:cNvPr id="3" name="Content Placeholder 2"/>
          <p:cNvSpPr>
            <a:spLocks noGrp="1"/>
          </p:cNvSpPr>
          <p:nvPr>
            <p:ph idx="1"/>
          </p:nvPr>
        </p:nvSpPr>
        <p:spPr>
          <a:xfrm>
            <a:off x="457200" y="1219200"/>
            <a:ext cx="8229600" cy="5334000"/>
          </a:xfrm>
        </p:spPr>
        <p:txBody>
          <a:bodyPr>
            <a:normAutofit/>
          </a:bodyPr>
          <a:lstStyle/>
          <a:p>
            <a:pPr algn="just">
              <a:lnSpc>
                <a:spcPct val="150000"/>
              </a:lnSpc>
              <a:buNone/>
            </a:pPr>
            <a:r>
              <a:rPr lang="en-US" sz="1800" dirty="0">
                <a:latin typeface="Times New Roman" pitchFamily="18" charset="0"/>
                <a:cs typeface="Times New Roman" pitchFamily="18" charset="0"/>
              </a:rPr>
              <a:t>	 	</a:t>
            </a:r>
            <a:r>
              <a:rPr lang="en-US" sz="1600" dirty="0">
                <a:latin typeface="Times New Roman" pitchFamily="18" charset="0"/>
                <a:cs typeface="Times New Roman" pitchFamily="18" charset="0"/>
              </a:rPr>
              <a:t>Martinez-</a:t>
            </a:r>
            <a:r>
              <a:rPr lang="en-US" sz="1600" dirty="0" err="1">
                <a:latin typeface="Times New Roman" pitchFamily="18" charset="0"/>
                <a:cs typeface="Times New Roman" pitchFamily="18" charset="0"/>
              </a:rPr>
              <a:t>Paneda</a:t>
            </a:r>
            <a:r>
              <a:rPr lang="en-US" sz="1600" dirty="0">
                <a:latin typeface="Times New Roman" pitchFamily="18" charset="0"/>
                <a:cs typeface="Times New Roman" pitchFamily="18" charset="0"/>
              </a:rPr>
              <a:t> E and </a:t>
            </a:r>
            <a:r>
              <a:rPr lang="en-US" sz="1600" dirty="0" err="1">
                <a:latin typeface="Times New Roman" pitchFamily="18" charset="0"/>
                <a:cs typeface="Times New Roman" pitchFamily="18" charset="0"/>
              </a:rPr>
              <a:t>Gallego</a:t>
            </a:r>
            <a:r>
              <a:rPr lang="en-US" sz="1600" dirty="0">
                <a:latin typeface="Times New Roman" pitchFamily="18" charset="0"/>
                <a:cs typeface="Times New Roman" pitchFamily="18" charset="0"/>
              </a:rPr>
              <a:t> R (2015), have studied the possibilities to model FGM in commercial software.  The author mentions a method developed by Rousseau and </a:t>
            </a:r>
            <a:r>
              <a:rPr lang="en-US" sz="1600" dirty="0" err="1">
                <a:latin typeface="Times New Roman" pitchFamily="18" charset="0"/>
                <a:cs typeface="Times New Roman" pitchFamily="18" charset="0"/>
              </a:rPr>
              <a:t>Tippur</a:t>
            </a:r>
            <a:r>
              <a:rPr lang="en-US" sz="1600" dirty="0">
                <a:latin typeface="Times New Roman" pitchFamily="18" charset="0"/>
                <a:cs typeface="Times New Roman" pitchFamily="18" charset="0"/>
              </a:rPr>
              <a:t> (2000) of assigning temperature dependent material property. </a:t>
            </a:r>
          </a:p>
          <a:p>
            <a:pPr algn="just">
              <a:lnSpc>
                <a:spcPct val="150000"/>
              </a:lnSpc>
              <a:buNone/>
            </a:pPr>
            <a:r>
              <a:rPr lang="en-US" sz="1800" b="1" i="1" dirty="0">
                <a:latin typeface="Times New Roman" pitchFamily="18" charset="0"/>
                <a:cs typeface="Times New Roman" pitchFamily="18" charset="0"/>
              </a:rPr>
              <a:t>Techniques used to model FGM: </a:t>
            </a:r>
          </a:p>
          <a:p>
            <a:pPr algn="just">
              <a:lnSpc>
                <a:spcPct val="150000"/>
              </a:lnSpc>
              <a:buFont typeface="Wingdings" pitchFamily="2" charset="2"/>
              <a:buChar char="Ø"/>
            </a:pPr>
            <a:r>
              <a:rPr lang="en-US" sz="1800" b="1" i="1" dirty="0">
                <a:latin typeface="Times New Roman" pitchFamily="18" charset="0"/>
                <a:cs typeface="Times New Roman" pitchFamily="18" charset="0"/>
              </a:rPr>
              <a:t> </a:t>
            </a:r>
            <a:r>
              <a:rPr lang="en-US" sz="1600" dirty="0">
                <a:latin typeface="Times New Roman" pitchFamily="18" charset="0"/>
                <a:cs typeface="Times New Roman" pitchFamily="18" charset="0"/>
              </a:rPr>
              <a:t>To model FGM in FEA packages, a temperature profile is assigned  to the structure in terms of dummy thermal loads to obtain gradient distribution of material property</a:t>
            </a:r>
            <a:r>
              <a:rPr lang="en-US" sz="1600" i="1" dirty="0">
                <a:latin typeface="Times New Roman" pitchFamily="18" charset="0"/>
                <a:cs typeface="Times New Roman" pitchFamily="18" charset="0"/>
              </a:rPr>
              <a:t>.</a:t>
            </a:r>
          </a:p>
          <a:p>
            <a:pPr algn="just">
              <a:lnSpc>
                <a:spcPct val="150000"/>
              </a:lnSpc>
              <a:buFont typeface="Wingdings" pitchFamily="2" charset="2"/>
              <a:buChar char="Ø"/>
            </a:pPr>
            <a:r>
              <a:rPr lang="en-US" sz="1600" dirty="0">
                <a:latin typeface="Times New Roman" pitchFamily="18" charset="0"/>
                <a:cs typeface="Times New Roman" pitchFamily="18" charset="0"/>
              </a:rPr>
              <a:t>Temperature dependent material property is assigned to the structure, the thermal coefficient of expansion is made 0, to neglect unwanted strain.</a:t>
            </a:r>
          </a:p>
          <a:p>
            <a:pPr algn="just">
              <a:lnSpc>
                <a:spcPct val="150000"/>
              </a:lnSpc>
              <a:buFont typeface="Wingdings" pitchFamily="2" charset="2"/>
              <a:buChar char="Ø"/>
            </a:pPr>
            <a:r>
              <a:rPr lang="en-US" sz="1600" dirty="0">
                <a:latin typeface="Times New Roman" pitchFamily="18" charset="0"/>
                <a:cs typeface="Times New Roman" pitchFamily="18" charset="0"/>
              </a:rPr>
              <a:t>The above method is not suitable for thermo mechanical analysis. </a:t>
            </a:r>
          </a:p>
          <a:p>
            <a:pPr algn="just">
              <a:lnSpc>
                <a:spcPct val="150000"/>
              </a:lnSpc>
              <a:buFont typeface="Wingdings" pitchFamily="2" charset="2"/>
              <a:buChar char="Ø"/>
            </a:pPr>
            <a:r>
              <a:rPr lang="en-US" sz="1600" dirty="0">
                <a:latin typeface="Times New Roman" pitchFamily="18" charset="0"/>
                <a:cs typeface="Times New Roman" pitchFamily="18" charset="0"/>
              </a:rPr>
              <a:t>The author Martinez-</a:t>
            </a:r>
            <a:r>
              <a:rPr lang="en-US" sz="1600" dirty="0" err="1">
                <a:latin typeface="Times New Roman" pitchFamily="18" charset="0"/>
                <a:cs typeface="Times New Roman" pitchFamily="18" charset="0"/>
              </a:rPr>
              <a:t>Paneda</a:t>
            </a:r>
            <a:r>
              <a:rPr lang="en-US" sz="1600" dirty="0">
                <a:latin typeface="Times New Roman" pitchFamily="18" charset="0"/>
                <a:cs typeface="Times New Roman" pitchFamily="18" charset="0"/>
              </a:rPr>
              <a:t> E and </a:t>
            </a:r>
            <a:r>
              <a:rPr lang="en-US" sz="1600" dirty="0" err="1">
                <a:latin typeface="Times New Roman" pitchFamily="18" charset="0"/>
                <a:cs typeface="Times New Roman" pitchFamily="18" charset="0"/>
              </a:rPr>
              <a:t>Gallego</a:t>
            </a:r>
            <a:r>
              <a:rPr lang="en-US" sz="1600" dirty="0">
                <a:latin typeface="Times New Roman" pitchFamily="18" charset="0"/>
                <a:cs typeface="Times New Roman" pitchFamily="18" charset="0"/>
              </a:rPr>
              <a:t> R (2015), also suggest the use of subroutine to model FGM in commercial software.</a:t>
            </a:r>
          </a:p>
          <a:p>
            <a:pPr>
              <a:lnSpc>
                <a:spcPct val="150000"/>
              </a:lnSpc>
              <a:buNone/>
            </a:pPr>
            <a:r>
              <a:rPr lang="en-US" sz="1600" dirty="0">
                <a:latin typeface="Times New Roman" pitchFamily="18" charset="0"/>
                <a:cs typeface="Times New Roman" pitchFamily="18" charset="0"/>
              </a:rPr>
              <a:t>		The lack of direct method to model FGM, motivated a FEM program specific for numerical analysis of  Functionally Graded materials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chemeClr val="accent1">
                    <a:lumMod val="50000"/>
                  </a:schemeClr>
                </a:solidFill>
              </a:rPr>
              <a:t>Scope of the project</a:t>
            </a:r>
          </a:p>
        </p:txBody>
      </p:sp>
      <p:sp>
        <p:nvSpPr>
          <p:cNvPr id="3" name="Content Placeholder 2"/>
          <p:cNvSpPr>
            <a:spLocks noGrp="1"/>
          </p:cNvSpPr>
          <p:nvPr>
            <p:ph idx="1"/>
          </p:nvPr>
        </p:nvSpPr>
        <p:spPr>
          <a:xfrm>
            <a:off x="457200" y="1295400"/>
            <a:ext cx="8229600" cy="5181600"/>
          </a:xfrm>
        </p:spPr>
        <p:txBody>
          <a:bodyPr>
            <a:normAutofit/>
          </a:bodyPr>
          <a:lstStyle/>
          <a:p>
            <a:pPr lvl="0">
              <a:lnSpc>
                <a:spcPct val="200000"/>
              </a:lnSpc>
              <a:buFont typeface="Wingdings" pitchFamily="2" charset="2"/>
              <a:buChar char="Ø"/>
            </a:pPr>
            <a:r>
              <a:rPr lang="en-US" sz="2200" b="1" i="1" dirty="0">
                <a:latin typeface="Times New Roman" pitchFamily="18" charset="0"/>
                <a:cs typeface="Times New Roman" pitchFamily="18" charset="0"/>
              </a:rPr>
              <a:t>FEA formulation </a:t>
            </a:r>
            <a:r>
              <a:rPr lang="en-US" sz="2200" dirty="0">
                <a:latin typeface="Times New Roman" pitchFamily="18" charset="0"/>
                <a:cs typeface="Times New Roman" pitchFamily="18" charset="0"/>
              </a:rPr>
              <a:t>for combined thermal and structural analysis is to be brought out with specific focus to plate and shell structures. </a:t>
            </a:r>
          </a:p>
          <a:p>
            <a:pPr lvl="0">
              <a:lnSpc>
                <a:spcPct val="200000"/>
              </a:lnSpc>
              <a:buFont typeface="Wingdings" pitchFamily="2" charset="2"/>
              <a:buChar char="Ø"/>
            </a:pPr>
            <a:r>
              <a:rPr lang="en-US" sz="2200" dirty="0">
                <a:latin typeface="Times New Roman" pitchFamily="18" charset="0"/>
                <a:cs typeface="Times New Roman" pitchFamily="18" charset="0"/>
              </a:rPr>
              <a:t>FEM program to be developed in </a:t>
            </a:r>
            <a:r>
              <a:rPr lang="en-US" sz="2200" b="1" i="1" dirty="0">
                <a:latin typeface="Times New Roman" pitchFamily="18" charset="0"/>
                <a:cs typeface="Times New Roman" pitchFamily="18" charset="0"/>
              </a:rPr>
              <a:t>C language </a:t>
            </a:r>
            <a:r>
              <a:rPr lang="en-US" sz="2200" dirty="0">
                <a:latin typeface="Times New Roman" pitchFamily="18" charset="0"/>
                <a:cs typeface="Times New Roman" pitchFamily="18" charset="0"/>
              </a:rPr>
              <a:t>incorporating the formulation and suitable solution procedure. </a:t>
            </a:r>
          </a:p>
          <a:p>
            <a:pPr lvl="0">
              <a:lnSpc>
                <a:spcPct val="200000"/>
              </a:lnSpc>
              <a:buFont typeface="Wingdings" pitchFamily="2" charset="2"/>
              <a:buChar char="Ø"/>
            </a:pPr>
            <a:r>
              <a:rPr lang="en-US" sz="2200" b="1" i="1" dirty="0">
                <a:latin typeface="Times New Roman" pitchFamily="18" charset="0"/>
                <a:cs typeface="Times New Roman" pitchFamily="18" charset="0"/>
              </a:rPr>
              <a:t>Validation</a:t>
            </a:r>
            <a:r>
              <a:rPr lang="en-US" sz="2200" dirty="0">
                <a:latin typeface="Times New Roman" pitchFamily="18" charset="0"/>
                <a:cs typeface="Times New Roman" pitchFamily="18" charset="0"/>
              </a:rPr>
              <a:t> of the program with </a:t>
            </a:r>
            <a:r>
              <a:rPr lang="en-US" sz="2200" b="1" i="1" dirty="0">
                <a:latin typeface="Times New Roman" pitchFamily="18" charset="0"/>
                <a:cs typeface="Times New Roman" pitchFamily="18" charset="0"/>
              </a:rPr>
              <a:t>standard analytical results</a:t>
            </a:r>
            <a:r>
              <a:rPr lang="en-US" sz="2200" dirty="0">
                <a:latin typeface="Times New Roman" pitchFamily="18" charset="0"/>
                <a:cs typeface="Times New Roman" pitchFamily="18" charset="0"/>
              </a:rPr>
              <a:t> and optimizing the program.</a:t>
            </a:r>
          </a:p>
          <a:p>
            <a:pPr lvl="0">
              <a:lnSpc>
                <a:spcPct val="200000"/>
              </a:lnSpc>
              <a:buFont typeface="Wingdings" pitchFamily="2" charset="2"/>
              <a:buChar char="Ø"/>
            </a:pPr>
            <a:r>
              <a:rPr lang="en-US" sz="2200" dirty="0">
                <a:latin typeface="Times New Roman" pitchFamily="18" charset="0"/>
                <a:cs typeface="Times New Roman" pitchFamily="18" charset="0"/>
              </a:rPr>
              <a:t>Incorporation of the module in COMSAP package.</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solidFill>
                  <a:schemeClr val="accent1">
                    <a:lumMod val="50000"/>
                  </a:schemeClr>
                </a:solidFill>
                <a:latin typeface="Times New Roman" pitchFamily="18" charset="0"/>
                <a:cs typeface="Times New Roman" pitchFamily="18" charset="0"/>
              </a:rPr>
              <a:t>Functionally Graded Materials</a:t>
            </a:r>
          </a:p>
        </p:txBody>
      </p:sp>
      <p:sp>
        <p:nvSpPr>
          <p:cNvPr id="3" name="Content Placeholder 2"/>
          <p:cNvSpPr>
            <a:spLocks noGrp="1"/>
          </p:cNvSpPr>
          <p:nvPr>
            <p:ph idx="1"/>
          </p:nvPr>
        </p:nvSpPr>
        <p:spPr>
          <a:xfrm>
            <a:off x="457200" y="838200"/>
            <a:ext cx="8229600" cy="5287963"/>
          </a:xfrm>
        </p:spPr>
        <p:txBody>
          <a:bodyPr>
            <a:normAutofit fontScale="92500" lnSpcReduction="10000"/>
          </a:bodyPr>
          <a:lstStyle/>
          <a:p>
            <a:pPr>
              <a:lnSpc>
                <a:spcPct val="150000"/>
              </a:lnSpc>
              <a:buNone/>
            </a:pPr>
            <a:r>
              <a:rPr lang="en-US" dirty="0"/>
              <a:t>		</a:t>
            </a:r>
            <a:r>
              <a:rPr lang="en-US" sz="1800" b="1" i="1" dirty="0">
                <a:latin typeface="Times New Roman" pitchFamily="18" charset="0"/>
                <a:cs typeface="Times New Roman" pitchFamily="18" charset="0"/>
              </a:rPr>
              <a:t>Functionally Graded Materials </a:t>
            </a:r>
            <a:r>
              <a:rPr lang="en-US" sz="1800" dirty="0">
                <a:latin typeface="Times New Roman" pitchFamily="18" charset="0"/>
                <a:cs typeface="Times New Roman" pitchFamily="18" charset="0"/>
              </a:rPr>
              <a:t>are characterized by gradual variation in composition or material structure over the volume of the material. The gradual variation, results in the corresponding change in the response across material to an external  influence like load, heat flux etc.</a:t>
            </a:r>
          </a:p>
          <a:p>
            <a:pPr>
              <a:lnSpc>
                <a:spcPct val="150000"/>
              </a:lnSpc>
              <a:buNone/>
            </a:pPr>
            <a:endParaRPr lang="en-US" sz="1800" dirty="0">
              <a:latin typeface="Times New Roman" pitchFamily="18" charset="0"/>
              <a:cs typeface="Times New Roman" pitchFamily="18" charset="0"/>
            </a:endParaRPr>
          </a:p>
          <a:p>
            <a:pPr>
              <a:lnSpc>
                <a:spcPct val="150000"/>
              </a:lnSpc>
              <a:buNone/>
            </a:pPr>
            <a:endParaRPr lang="en-US" sz="1800" dirty="0">
              <a:latin typeface="Times New Roman" pitchFamily="18" charset="0"/>
              <a:cs typeface="Times New Roman" pitchFamily="18" charset="0"/>
            </a:endParaRPr>
          </a:p>
          <a:p>
            <a:pPr>
              <a:buNone/>
            </a:pPr>
            <a:endParaRPr lang="en-US" sz="1800" dirty="0">
              <a:latin typeface="Times New Roman" pitchFamily="18" charset="0"/>
              <a:cs typeface="Times New Roman" pitchFamily="18" charset="0"/>
            </a:endParaRPr>
          </a:p>
          <a:p>
            <a:pPr algn="ctr">
              <a:lnSpc>
                <a:spcPct val="150000"/>
              </a:lnSpc>
              <a:buNone/>
            </a:pPr>
            <a:endParaRPr lang="en-US" sz="1800" dirty="0">
              <a:latin typeface="Times New Roman" pitchFamily="18" charset="0"/>
              <a:cs typeface="Times New Roman" pitchFamily="18" charset="0"/>
            </a:endParaRPr>
          </a:p>
          <a:p>
            <a:pPr algn="ctr">
              <a:lnSpc>
                <a:spcPct val="150000"/>
              </a:lnSpc>
              <a:buNone/>
            </a:pPr>
            <a:r>
              <a:rPr lang="en-US" sz="1800" dirty="0">
                <a:latin typeface="Times New Roman" pitchFamily="18" charset="0"/>
                <a:cs typeface="Times New Roman" pitchFamily="18" charset="0"/>
              </a:rPr>
              <a:t>Fig 1 Gradual Variation of  FGM (from left to right)</a:t>
            </a:r>
          </a:p>
          <a:p>
            <a:pPr>
              <a:lnSpc>
                <a:spcPct val="150000"/>
              </a:lnSpc>
              <a:buNone/>
            </a:pPr>
            <a:r>
              <a:rPr lang="en-US" sz="2000" dirty="0">
                <a:latin typeface="Times New Roman" pitchFamily="18" charset="0"/>
                <a:cs typeface="Times New Roman" pitchFamily="18" charset="0"/>
              </a:rPr>
              <a:t>		Contrasting functionality requirements across different layers of a structure like, </a:t>
            </a:r>
            <a:r>
              <a:rPr lang="en-US" sz="2000" b="1" i="1" dirty="0">
                <a:latin typeface="Times New Roman" pitchFamily="18" charset="0"/>
                <a:cs typeface="Times New Roman" pitchFamily="18" charset="0"/>
              </a:rPr>
              <a:t>high resistance to heat in the external surface </a:t>
            </a:r>
            <a:r>
              <a:rPr lang="en-US" sz="2000" dirty="0">
                <a:latin typeface="Times New Roman" pitchFamily="18" charset="0"/>
                <a:cs typeface="Times New Roman" pitchFamily="18" charset="0"/>
              </a:rPr>
              <a:t>and </a:t>
            </a:r>
            <a:r>
              <a:rPr lang="en-US" sz="2000" b="1" i="1" dirty="0">
                <a:latin typeface="Times New Roman" pitchFamily="18" charset="0"/>
                <a:cs typeface="Times New Roman" pitchFamily="18" charset="0"/>
              </a:rPr>
              <a:t>general mechanical strength in the structure </a:t>
            </a:r>
            <a:r>
              <a:rPr lang="en-US" sz="2000" dirty="0">
                <a:latin typeface="Times New Roman" pitchFamily="18" charset="0"/>
                <a:cs typeface="Times New Roman" pitchFamily="18" charset="0"/>
              </a:rPr>
              <a:t>can be achieved by FGM.</a:t>
            </a:r>
          </a:p>
          <a:p>
            <a:pPr algn="ctr">
              <a:lnSpc>
                <a:spcPct val="150000"/>
              </a:lnSpc>
              <a:buNone/>
            </a:pPr>
            <a:endParaRPr lang="en-US" dirty="0"/>
          </a:p>
        </p:txBody>
      </p:sp>
      <p:pic>
        <p:nvPicPr>
          <p:cNvPr id="6" name="Picture 2" descr="C:\Users\Nirmal\Desktop\fgm.png"/>
          <p:cNvPicPr>
            <a:picLocks noChangeAspect="1" noChangeArrowheads="1"/>
          </p:cNvPicPr>
          <p:nvPr/>
        </p:nvPicPr>
        <p:blipFill>
          <a:blip r:embed="rId2"/>
          <a:srcRect b="11876"/>
          <a:stretch>
            <a:fillRect/>
          </a:stretch>
        </p:blipFill>
        <p:spPr bwMode="auto">
          <a:xfrm>
            <a:off x="762000" y="2667000"/>
            <a:ext cx="7162800" cy="13716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3200" dirty="0">
                <a:latin typeface="Times New Roman" pitchFamily="18" charset="0"/>
                <a:cs typeface="Times New Roman" pitchFamily="18" charset="0"/>
              </a:rPr>
              <a:t>FGM </a:t>
            </a:r>
            <a:r>
              <a:rPr lang="en-US" sz="3200" dirty="0" err="1">
                <a:latin typeface="Times New Roman" pitchFamily="18" charset="0"/>
                <a:cs typeface="Times New Roman" pitchFamily="18" charset="0"/>
              </a:rPr>
              <a:t>vs</a:t>
            </a:r>
            <a:r>
              <a:rPr lang="en-US" sz="3200" dirty="0">
                <a:latin typeface="Times New Roman" pitchFamily="18" charset="0"/>
                <a:cs typeface="Times New Roman" pitchFamily="18" charset="0"/>
              </a:rPr>
              <a:t> Composites</a:t>
            </a:r>
          </a:p>
        </p:txBody>
      </p:sp>
      <p:pic>
        <p:nvPicPr>
          <p:cNvPr id="4" name="Content Placeholder 3" descr="layup1.gif"/>
          <p:cNvPicPr>
            <a:picLocks noGrp="1" noChangeAspect="1"/>
          </p:cNvPicPr>
          <p:nvPr>
            <p:ph idx="1"/>
          </p:nvPr>
        </p:nvPicPr>
        <p:blipFill>
          <a:blip r:embed="rId2"/>
          <a:stretch>
            <a:fillRect/>
          </a:stretch>
        </p:blipFill>
        <p:spPr>
          <a:xfrm>
            <a:off x="4953000" y="1524000"/>
            <a:ext cx="3514725" cy="2057400"/>
          </a:xfrm>
        </p:spPr>
      </p:pic>
      <p:pic>
        <p:nvPicPr>
          <p:cNvPr id="5" name="Picture 4" descr="FGM1.png"/>
          <p:cNvPicPr>
            <a:picLocks noChangeAspect="1"/>
          </p:cNvPicPr>
          <p:nvPr/>
        </p:nvPicPr>
        <p:blipFill>
          <a:blip r:embed="rId3"/>
          <a:stretch>
            <a:fillRect/>
          </a:stretch>
        </p:blipFill>
        <p:spPr>
          <a:xfrm>
            <a:off x="381000" y="1295400"/>
            <a:ext cx="3848637" cy="2476825"/>
          </a:xfrm>
          <a:prstGeom prst="rect">
            <a:avLst/>
          </a:prstGeom>
        </p:spPr>
      </p:pic>
      <p:sp>
        <p:nvSpPr>
          <p:cNvPr id="6" name="TextBox 5"/>
          <p:cNvSpPr txBox="1"/>
          <p:nvPr/>
        </p:nvSpPr>
        <p:spPr>
          <a:xfrm>
            <a:off x="685800" y="3733800"/>
            <a:ext cx="7620000" cy="369332"/>
          </a:xfrm>
          <a:prstGeom prst="rect">
            <a:avLst/>
          </a:prstGeom>
          <a:noFill/>
        </p:spPr>
        <p:txBody>
          <a:bodyPr wrap="square" rtlCol="0">
            <a:spAutoFit/>
          </a:bodyPr>
          <a:lstStyle/>
          <a:p>
            <a:r>
              <a:rPr lang="en-US" dirty="0"/>
              <a:t>           </a:t>
            </a:r>
            <a:r>
              <a:rPr lang="en-US" sz="1600" dirty="0">
                <a:latin typeface="Times New Roman" pitchFamily="18" charset="0"/>
                <a:cs typeface="Times New Roman" pitchFamily="18" charset="0"/>
              </a:rPr>
              <a:t>FGM structure</a:t>
            </a:r>
            <a:r>
              <a:rPr lang="en-US" sz="1600" dirty="0"/>
              <a:t>				       </a:t>
            </a:r>
            <a:r>
              <a:rPr lang="en-US" sz="1600" dirty="0">
                <a:latin typeface="Times New Roman" pitchFamily="18" charset="0"/>
                <a:cs typeface="Times New Roman" pitchFamily="18" charset="0"/>
              </a:rPr>
              <a:t>Composite structure</a:t>
            </a:r>
          </a:p>
        </p:txBody>
      </p:sp>
      <p:pic>
        <p:nvPicPr>
          <p:cNvPr id="7" name="Picture 6" descr="G3-Stress-and-strain-in-layers_0.gif"/>
          <p:cNvPicPr>
            <a:picLocks noChangeAspect="1"/>
          </p:cNvPicPr>
          <p:nvPr/>
        </p:nvPicPr>
        <p:blipFill>
          <a:blip r:embed="rId4"/>
          <a:stretch>
            <a:fillRect/>
          </a:stretch>
        </p:blipFill>
        <p:spPr>
          <a:xfrm>
            <a:off x="838201" y="4419600"/>
            <a:ext cx="4509054" cy="1943099"/>
          </a:xfrm>
          <a:prstGeom prst="rect">
            <a:avLst/>
          </a:prstGeom>
        </p:spPr>
      </p:pic>
      <p:sp>
        <p:nvSpPr>
          <p:cNvPr id="8" name="TextBox 7"/>
          <p:cNvSpPr txBox="1"/>
          <p:nvPr/>
        </p:nvSpPr>
        <p:spPr>
          <a:xfrm>
            <a:off x="5562600" y="4038600"/>
            <a:ext cx="3166251" cy="2633413"/>
          </a:xfrm>
          <a:prstGeom prst="rect">
            <a:avLst/>
          </a:prstGeom>
          <a:noFill/>
        </p:spPr>
        <p:txBody>
          <a:bodyPr wrap="square" rtlCol="0">
            <a:spAutoFit/>
          </a:bodyPr>
          <a:lstStyle/>
          <a:p>
            <a:pPr algn="just">
              <a:lnSpc>
                <a:spcPct val="150000"/>
              </a:lnSpc>
            </a:pPr>
            <a:r>
              <a:rPr lang="en-US" sz="1600" dirty="0">
                <a:latin typeface="Times New Roman" pitchFamily="18" charset="0"/>
                <a:cs typeface="Times New Roman" pitchFamily="18" charset="0"/>
              </a:rPr>
              <a:t>	In </a:t>
            </a:r>
            <a:r>
              <a:rPr lang="en-US" sz="1600" b="1" i="1" dirty="0">
                <a:latin typeface="Times New Roman" pitchFamily="18" charset="0"/>
                <a:cs typeface="Times New Roman" pitchFamily="18" charset="0"/>
              </a:rPr>
              <a:t>composites</a:t>
            </a:r>
            <a:r>
              <a:rPr lang="en-US" sz="1600" dirty="0">
                <a:latin typeface="Times New Roman" pitchFamily="18" charset="0"/>
                <a:cs typeface="Times New Roman" pitchFamily="18" charset="0"/>
              </a:rPr>
              <a:t> the </a:t>
            </a:r>
            <a:r>
              <a:rPr lang="en-US" sz="1600" b="1" i="1" dirty="0">
                <a:latin typeface="Times New Roman" pitchFamily="18" charset="0"/>
                <a:cs typeface="Times New Roman" pitchFamily="18" charset="0"/>
              </a:rPr>
              <a:t>sudden change</a:t>
            </a:r>
            <a:r>
              <a:rPr lang="en-US" sz="1600" dirty="0">
                <a:latin typeface="Times New Roman" pitchFamily="18" charset="0"/>
                <a:cs typeface="Times New Roman" pitchFamily="18" charset="0"/>
              </a:rPr>
              <a:t> in </a:t>
            </a:r>
            <a:r>
              <a:rPr lang="en-US" sz="1600" b="1" i="1" dirty="0">
                <a:latin typeface="Times New Roman" pitchFamily="18" charset="0"/>
                <a:cs typeface="Times New Roman" pitchFamily="18" charset="0"/>
              </a:rPr>
              <a:t>material property </a:t>
            </a:r>
            <a:r>
              <a:rPr lang="en-US" sz="1600" dirty="0">
                <a:latin typeface="Times New Roman" pitchFamily="18" charset="0"/>
                <a:cs typeface="Times New Roman" pitchFamily="18" charset="0"/>
              </a:rPr>
              <a:t>in the lamina interface results in </a:t>
            </a:r>
            <a:r>
              <a:rPr lang="en-US" sz="1600" i="1" dirty="0">
                <a:latin typeface="Times New Roman" pitchFamily="18" charset="0"/>
                <a:cs typeface="Times New Roman" pitchFamily="18" charset="0"/>
              </a:rPr>
              <a:t>stress concentration </a:t>
            </a:r>
            <a:r>
              <a:rPr lang="en-US" sz="1600" dirty="0">
                <a:latin typeface="Times New Roman" pitchFamily="18" charset="0"/>
                <a:cs typeface="Times New Roman" pitchFamily="18" charset="0"/>
              </a:rPr>
              <a:t>and </a:t>
            </a:r>
            <a:r>
              <a:rPr lang="en-US" sz="1600" i="1" dirty="0">
                <a:latin typeface="Times New Roman" pitchFamily="18" charset="0"/>
                <a:cs typeface="Times New Roman" pitchFamily="18" charset="0"/>
              </a:rPr>
              <a:t>discontinuous stress distribution</a:t>
            </a:r>
            <a:r>
              <a:rPr lang="en-US" sz="1600" dirty="0">
                <a:latin typeface="Times New Roman" pitchFamily="18" charset="0"/>
                <a:cs typeface="Times New Roman" pitchFamily="18" charset="0"/>
              </a:rPr>
              <a:t>. This causes </a:t>
            </a:r>
            <a:r>
              <a:rPr lang="en-US" sz="1600" u="sng" dirty="0">
                <a:latin typeface="Times New Roman" pitchFamily="18" charset="0"/>
                <a:cs typeface="Times New Roman" pitchFamily="18" charset="0"/>
              </a:rPr>
              <a:t>delimitation</a:t>
            </a:r>
            <a:r>
              <a:rPr lang="en-US" sz="1600" dirty="0">
                <a:latin typeface="Times New Roman" pitchFamily="18" charset="0"/>
                <a:cs typeface="Times New Roman" pitchFamily="18" charset="0"/>
              </a:rPr>
              <a:t> , FGM minimizes this effect.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002060"/>
                </a:solidFill>
                <a:latin typeface="Times New Roman" pitchFamily="18" charset="0"/>
                <a:cs typeface="Times New Roman" pitchFamily="18" charset="0"/>
              </a:rPr>
              <a:t>Material Composition Variation in FGM</a:t>
            </a:r>
          </a:p>
        </p:txBody>
      </p:sp>
      <p:pic>
        <p:nvPicPr>
          <p:cNvPr id="1026" name="Picture 2" descr="C:\Users\Nirmal\Desktop\report downloads\FGM variation.png"/>
          <p:cNvPicPr>
            <a:picLocks noGrp="1" noChangeAspect="1" noChangeArrowheads="1"/>
          </p:cNvPicPr>
          <p:nvPr>
            <p:ph idx="1"/>
          </p:nvPr>
        </p:nvPicPr>
        <p:blipFill>
          <a:blip r:embed="rId2"/>
          <a:srcRect/>
          <a:stretch>
            <a:fillRect/>
          </a:stretch>
        </p:blipFill>
        <p:spPr bwMode="auto">
          <a:xfrm>
            <a:off x="892864" y="1600200"/>
            <a:ext cx="7407972" cy="4495800"/>
          </a:xfrm>
          <a:prstGeom prst="rect">
            <a:avLst/>
          </a:prstGeom>
          <a:noFill/>
        </p:spPr>
      </p:pic>
      <p:sp>
        <p:nvSpPr>
          <p:cNvPr id="6" name="TextBox 5"/>
          <p:cNvSpPr txBox="1"/>
          <p:nvPr/>
        </p:nvSpPr>
        <p:spPr>
          <a:xfrm>
            <a:off x="3048000" y="6248400"/>
            <a:ext cx="3358612" cy="369332"/>
          </a:xfrm>
          <a:prstGeom prst="rect">
            <a:avLst/>
          </a:prstGeom>
          <a:noFill/>
        </p:spPr>
        <p:txBody>
          <a:bodyPr wrap="none" rtlCol="0">
            <a:spAutoFit/>
          </a:bodyPr>
          <a:lstStyle/>
          <a:p>
            <a:r>
              <a:rPr lang="en-US" dirty="0">
                <a:latin typeface="Times New Roman" pitchFamily="18" charset="0"/>
                <a:cs typeface="Times New Roman" pitchFamily="18" charset="0"/>
              </a:rPr>
              <a:t>Fig 2 FGM composition variation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itchFamily="18" charset="0"/>
                <a:cs typeface="Times New Roman" pitchFamily="18" charset="0"/>
              </a:rPr>
              <a:t>FGM Model</a:t>
            </a:r>
          </a:p>
        </p:txBody>
      </p:sp>
      <p:sp>
        <p:nvSpPr>
          <p:cNvPr id="3" name="Content Placeholder 2"/>
          <p:cNvSpPr>
            <a:spLocks noGrp="1"/>
          </p:cNvSpPr>
          <p:nvPr>
            <p:ph idx="1"/>
          </p:nvPr>
        </p:nvSpPr>
        <p:spPr>
          <a:xfrm>
            <a:off x="457200" y="1295400"/>
            <a:ext cx="8229600" cy="4830763"/>
          </a:xfrm>
        </p:spPr>
        <p:txBody>
          <a:bodyPr/>
          <a:lstStyle/>
          <a:p>
            <a:pPr>
              <a:buNone/>
            </a:pPr>
            <a:endParaRPr lang="en-US" dirty="0"/>
          </a:p>
          <a:p>
            <a:pPr>
              <a:buNone/>
            </a:pPr>
            <a:endParaRPr lang="en-US" dirty="0"/>
          </a:p>
          <a:p>
            <a:pPr>
              <a:buNone/>
            </a:pPr>
            <a:endParaRPr lang="en-US" dirty="0"/>
          </a:p>
          <a:p>
            <a:pPr>
              <a:buNone/>
            </a:pPr>
            <a:endParaRPr lang="en-US" dirty="0"/>
          </a:p>
          <a:p>
            <a:pPr>
              <a:buNone/>
            </a:pPr>
            <a:endParaRPr lang="en-US" sz="1600" dirty="0">
              <a:latin typeface="Times New Roman" pitchFamily="18" charset="0"/>
              <a:cs typeface="Times New Roman" pitchFamily="18" charset="0"/>
            </a:endParaRPr>
          </a:p>
          <a:p>
            <a:pPr>
              <a:buNone/>
            </a:pPr>
            <a:endParaRPr lang="en-US" sz="1600" dirty="0">
              <a:latin typeface="Times New Roman" pitchFamily="18" charset="0"/>
              <a:cs typeface="Times New Roman" pitchFamily="18" charset="0"/>
            </a:endParaRPr>
          </a:p>
          <a:p>
            <a:pPr>
              <a:buNone/>
            </a:pPr>
            <a:r>
              <a:rPr lang="en-US" sz="1600" dirty="0">
                <a:latin typeface="Times New Roman" pitchFamily="18" charset="0"/>
                <a:cs typeface="Times New Roman" pitchFamily="18" charset="0"/>
              </a:rPr>
              <a:t>The </a:t>
            </a:r>
            <a:r>
              <a:rPr lang="en-US" sz="1600" b="1" i="1" dirty="0">
                <a:latin typeface="Times New Roman" pitchFamily="18" charset="0"/>
                <a:cs typeface="Times New Roman" pitchFamily="18" charset="0"/>
              </a:rPr>
              <a:t>effective property of FGM </a:t>
            </a:r>
            <a:r>
              <a:rPr lang="en-US" sz="1600" dirty="0">
                <a:latin typeface="Times New Roman" pitchFamily="18" charset="0"/>
                <a:cs typeface="Times New Roman" pitchFamily="18" charset="0"/>
              </a:rPr>
              <a:t>at any layer is given by the following expression,</a:t>
            </a:r>
          </a:p>
          <a:p>
            <a:pPr>
              <a:buNone/>
            </a:pPr>
            <a:endParaRPr lang="en-US" sz="1600" dirty="0">
              <a:latin typeface="Times New Roman" pitchFamily="18" charset="0"/>
              <a:cs typeface="Times New Roman" pitchFamily="18" charset="0"/>
            </a:endParaRPr>
          </a:p>
        </p:txBody>
      </p:sp>
      <p:pic>
        <p:nvPicPr>
          <p:cNvPr id="4" name="Picture 3" descr="FGM1.png"/>
          <p:cNvPicPr>
            <a:picLocks noChangeAspect="1"/>
          </p:cNvPicPr>
          <p:nvPr/>
        </p:nvPicPr>
        <p:blipFill>
          <a:blip r:embed="rId2"/>
          <a:stretch>
            <a:fillRect/>
          </a:stretch>
        </p:blipFill>
        <p:spPr>
          <a:xfrm>
            <a:off x="228600" y="1219200"/>
            <a:ext cx="3848637" cy="2324425"/>
          </a:xfrm>
          <a:prstGeom prst="rect">
            <a:avLst/>
          </a:prstGeom>
        </p:spPr>
      </p:pic>
      <p:sp>
        <p:nvSpPr>
          <p:cNvPr id="5" name="TextBox 4"/>
          <p:cNvSpPr txBox="1"/>
          <p:nvPr/>
        </p:nvSpPr>
        <p:spPr>
          <a:xfrm>
            <a:off x="3810000" y="1447800"/>
            <a:ext cx="4572000" cy="3370153"/>
          </a:xfrm>
          <a:prstGeom prst="rect">
            <a:avLst/>
          </a:prstGeom>
          <a:noFill/>
        </p:spPr>
        <p:txBody>
          <a:bodyPr wrap="square" rtlCol="0">
            <a:spAutoFit/>
          </a:bodyPr>
          <a:lstStyle/>
          <a:p>
            <a:pPr algn="just">
              <a:lnSpc>
                <a:spcPct val="150000"/>
              </a:lnSpc>
            </a:pPr>
            <a:r>
              <a:rPr lang="en-US" dirty="0"/>
              <a:t>	</a:t>
            </a:r>
            <a:r>
              <a:rPr lang="en-US" sz="1600" dirty="0">
                <a:latin typeface="Times New Roman" pitchFamily="18" charset="0"/>
                <a:cs typeface="Times New Roman" pitchFamily="18" charset="0"/>
              </a:rPr>
              <a:t>The variation of the composition of the material in the top layer is given by,</a:t>
            </a:r>
          </a:p>
          <a:p>
            <a:pPr algn="just">
              <a:lnSpc>
                <a:spcPct val="150000"/>
              </a:lnSpc>
            </a:pPr>
            <a:endParaRPr lang="en-US" sz="1600" dirty="0">
              <a:latin typeface="Times New Roman" pitchFamily="18" charset="0"/>
              <a:cs typeface="Times New Roman" pitchFamily="18" charset="0"/>
            </a:endParaRPr>
          </a:p>
          <a:p>
            <a:pPr algn="just">
              <a:lnSpc>
                <a:spcPct val="150000"/>
              </a:lnSpc>
            </a:pPr>
            <a:r>
              <a:rPr lang="en-US" sz="1600" dirty="0">
                <a:latin typeface="Times New Roman" pitchFamily="18" charset="0"/>
                <a:cs typeface="Times New Roman" pitchFamily="18" charset="0"/>
              </a:rPr>
              <a:t>	</a:t>
            </a:r>
          </a:p>
          <a:p>
            <a:pPr algn="just">
              <a:lnSpc>
                <a:spcPct val="150000"/>
              </a:lnSpc>
            </a:pPr>
            <a:r>
              <a:rPr lang="en-US" sz="1600" dirty="0">
                <a:latin typeface="Times New Roman" pitchFamily="18" charset="0"/>
                <a:cs typeface="Times New Roman" pitchFamily="18" charset="0"/>
              </a:rPr>
              <a:t>	Where  Z is the coordinate in the thickness direction and h is the thickness. ‘n’ is called the grading parameter.</a:t>
            </a:r>
          </a:p>
          <a:p>
            <a:pPr algn="just">
              <a:lnSpc>
                <a:spcPct val="150000"/>
              </a:lnSpc>
            </a:pPr>
            <a:endParaRPr lang="en-US" sz="1600" dirty="0">
              <a:latin typeface="Times New Roman" pitchFamily="18" charset="0"/>
              <a:cs typeface="Times New Roman" pitchFamily="18" charset="0"/>
            </a:endParaRPr>
          </a:p>
          <a:p>
            <a:pPr algn="just"/>
            <a:endParaRPr lang="en-US" dirty="0"/>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049"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5638800" y="2362200"/>
            <a:ext cx="914400" cy="540912"/>
          </a:xfrm>
          <a:prstGeom prst="rect">
            <a:avLst/>
          </a:prstGeom>
          <a:noFill/>
        </p:spPr>
      </p:pic>
      <p:sp>
        <p:nvSpPr>
          <p:cNvPr id="8" name="TextBox 7"/>
          <p:cNvSpPr txBox="1"/>
          <p:nvPr/>
        </p:nvSpPr>
        <p:spPr>
          <a:xfrm>
            <a:off x="990600" y="3429000"/>
            <a:ext cx="2133600" cy="307777"/>
          </a:xfrm>
          <a:prstGeom prst="rect">
            <a:avLst/>
          </a:prstGeom>
          <a:noFill/>
        </p:spPr>
        <p:txBody>
          <a:bodyPr wrap="square" rtlCol="0">
            <a:spAutoFit/>
          </a:bodyPr>
          <a:lstStyle/>
          <a:p>
            <a:r>
              <a:rPr lang="en-US" sz="1400" dirty="0">
                <a:latin typeface="Times New Roman" pitchFamily="18" charset="0"/>
                <a:cs typeface="Times New Roman" pitchFamily="18" charset="0"/>
              </a:rPr>
              <a:t>Fig 3 FGM material</a:t>
            </a:r>
          </a:p>
        </p:txBody>
      </p:sp>
      <p:pic>
        <p:nvPicPr>
          <p:cNvPr id="9" name="Picture 8"/>
          <p:cNvPicPr/>
          <p:nvPr/>
        </p:nvPicPr>
        <p:blipFill>
          <a:blip r:embed="rId4"/>
          <a:srcRect/>
          <a:stretch>
            <a:fillRect/>
          </a:stretch>
        </p:blipFill>
        <p:spPr bwMode="auto">
          <a:xfrm>
            <a:off x="1143000" y="4800600"/>
            <a:ext cx="2590800" cy="838200"/>
          </a:xfrm>
          <a:prstGeom prst="rect">
            <a:avLst/>
          </a:prstGeom>
          <a:noFill/>
          <a:ln w="9525">
            <a:noFill/>
            <a:miter lim="800000"/>
            <a:headEnd/>
            <a:tailEnd/>
          </a:ln>
        </p:spPr>
      </p:pic>
      <p:sp>
        <p:nvSpPr>
          <p:cNvPr id="10" name="TextBox 9"/>
          <p:cNvSpPr txBox="1"/>
          <p:nvPr/>
        </p:nvSpPr>
        <p:spPr>
          <a:xfrm>
            <a:off x="3962400" y="4572000"/>
            <a:ext cx="4800600" cy="1938992"/>
          </a:xfrm>
          <a:prstGeom prst="rect">
            <a:avLst/>
          </a:prstGeom>
          <a:noFill/>
        </p:spPr>
        <p:txBody>
          <a:bodyPr wrap="square" rtlCol="0">
            <a:spAutoFit/>
          </a:bodyPr>
          <a:lstStyle/>
          <a:p>
            <a:pPr>
              <a:lnSpc>
                <a:spcPct val="150000"/>
              </a:lnSpc>
            </a:pPr>
            <a:r>
              <a:rPr lang="en-US" sz="1600" dirty="0">
                <a:latin typeface="Times New Roman" pitchFamily="18" charset="0"/>
                <a:cs typeface="Times New Roman" pitchFamily="18" charset="0"/>
              </a:rPr>
              <a:t>Where,</a:t>
            </a:r>
          </a:p>
          <a:p>
            <a:pPr>
              <a:lnSpc>
                <a:spcPct val="150000"/>
              </a:lnSpc>
            </a:pPr>
            <a:r>
              <a:rPr lang="en-US" sz="1600" dirty="0">
                <a:latin typeface="Times New Roman" pitchFamily="18" charset="0"/>
                <a:cs typeface="Times New Roman" pitchFamily="18" charset="0"/>
              </a:rPr>
              <a:t>Pt – is the material property in the top layer.</a:t>
            </a:r>
          </a:p>
          <a:p>
            <a:pPr>
              <a:lnSpc>
                <a:spcPct val="150000"/>
              </a:lnSpc>
            </a:pPr>
            <a:r>
              <a:rPr lang="en-US" sz="1600" dirty="0" err="1">
                <a:latin typeface="Times New Roman" pitchFamily="18" charset="0"/>
                <a:cs typeface="Times New Roman" pitchFamily="18" charset="0"/>
              </a:rPr>
              <a:t>Pb</a:t>
            </a:r>
            <a:r>
              <a:rPr lang="en-US" sz="1600" dirty="0">
                <a:latin typeface="Times New Roman" pitchFamily="18" charset="0"/>
                <a:cs typeface="Times New Roman" pitchFamily="18" charset="0"/>
              </a:rPr>
              <a:t> – is the material property at the bottom layer.</a:t>
            </a:r>
          </a:p>
          <a:p>
            <a:pPr>
              <a:lnSpc>
                <a:spcPct val="150000"/>
              </a:lnSpc>
            </a:pPr>
            <a:r>
              <a:rPr lang="en-US" sz="1600" dirty="0">
                <a:latin typeface="Times New Roman" pitchFamily="18" charset="0"/>
                <a:cs typeface="Times New Roman" pitchFamily="18" charset="0"/>
              </a:rPr>
              <a:t>	P(z)  gives the effective </a:t>
            </a:r>
            <a:r>
              <a:rPr lang="en-US" sz="1600" dirty="0" err="1">
                <a:latin typeface="Times New Roman" pitchFamily="18" charset="0"/>
                <a:cs typeface="Times New Roman" pitchFamily="18" charset="0"/>
              </a:rPr>
              <a:t>proprty</a:t>
            </a:r>
            <a:r>
              <a:rPr lang="en-US" sz="1600" dirty="0">
                <a:latin typeface="Times New Roman" pitchFamily="18" charset="0"/>
                <a:cs typeface="Times New Roman" pitchFamily="18" charset="0"/>
              </a:rPr>
              <a:t> of FGM at any given layer.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solidFill>
                  <a:schemeClr val="tx2">
                    <a:lumMod val="50000"/>
                  </a:schemeClr>
                </a:solidFill>
                <a:latin typeface="Times New Roman" pitchFamily="18" charset="0"/>
                <a:cs typeface="Times New Roman" pitchFamily="18" charset="0"/>
              </a:rPr>
              <a:t>Literature Survey: Numerical analysis of plates and shells</a:t>
            </a:r>
          </a:p>
        </p:txBody>
      </p:sp>
      <p:graphicFrame>
        <p:nvGraphicFramePr>
          <p:cNvPr id="4" name="Content Placeholder 3"/>
          <p:cNvGraphicFramePr>
            <a:graphicFrameLocks noGrp="1"/>
          </p:cNvGraphicFramePr>
          <p:nvPr>
            <p:ph idx="1"/>
          </p:nvPr>
        </p:nvGraphicFramePr>
        <p:xfrm>
          <a:off x="152400" y="1219200"/>
          <a:ext cx="8762999" cy="5105400"/>
        </p:xfrm>
        <a:graphic>
          <a:graphicData uri="http://schemas.openxmlformats.org/drawingml/2006/table">
            <a:tbl>
              <a:tblPr firstRow="1">
                <a:tableStyleId>{7DF18680-E054-41AD-8BC1-D1AEF772440D}</a:tableStyleId>
              </a:tblPr>
              <a:tblGrid>
                <a:gridCol w="914399">
                  <a:extLst>
                    <a:ext uri="{9D8B030D-6E8A-4147-A177-3AD203B41FA5}">
                      <a16:colId xmlns:a16="http://schemas.microsoft.com/office/drawing/2014/main" val="20000"/>
                    </a:ext>
                  </a:extLst>
                </a:gridCol>
                <a:gridCol w="1925461">
                  <a:extLst>
                    <a:ext uri="{9D8B030D-6E8A-4147-A177-3AD203B41FA5}">
                      <a16:colId xmlns:a16="http://schemas.microsoft.com/office/drawing/2014/main" val="20001"/>
                    </a:ext>
                  </a:extLst>
                </a:gridCol>
                <a:gridCol w="2515306">
                  <a:extLst>
                    <a:ext uri="{9D8B030D-6E8A-4147-A177-3AD203B41FA5}">
                      <a16:colId xmlns:a16="http://schemas.microsoft.com/office/drawing/2014/main" val="20002"/>
                    </a:ext>
                  </a:extLst>
                </a:gridCol>
                <a:gridCol w="3407833">
                  <a:extLst>
                    <a:ext uri="{9D8B030D-6E8A-4147-A177-3AD203B41FA5}">
                      <a16:colId xmlns:a16="http://schemas.microsoft.com/office/drawing/2014/main" val="20003"/>
                    </a:ext>
                  </a:extLst>
                </a:gridCol>
              </a:tblGrid>
              <a:tr h="632936">
                <a:tc>
                  <a:txBody>
                    <a:bodyPr/>
                    <a:lstStyle/>
                    <a:p>
                      <a:pPr algn="ctr"/>
                      <a:r>
                        <a:rPr lang="en-US" sz="2400" dirty="0">
                          <a:latin typeface="Times New Roman" pitchFamily="18" charset="0"/>
                          <a:cs typeface="Times New Roman" pitchFamily="18" charset="0"/>
                        </a:rPr>
                        <a:t>S.</a:t>
                      </a:r>
                      <a:r>
                        <a:rPr lang="en-US" sz="2400" baseline="0" dirty="0">
                          <a:latin typeface="Times New Roman" pitchFamily="18" charset="0"/>
                          <a:cs typeface="Times New Roman" pitchFamily="18" charset="0"/>
                        </a:rPr>
                        <a:t>N</a:t>
                      </a:r>
                      <a:r>
                        <a:rPr lang="en-US" sz="2400" dirty="0">
                          <a:latin typeface="Times New Roman" pitchFamily="18" charset="0"/>
                          <a:cs typeface="Times New Roman" pitchFamily="18" charset="0"/>
                        </a:rPr>
                        <a:t>o:</a:t>
                      </a:r>
                    </a:p>
                  </a:txBody>
                  <a:tcPr anchor="ctr"/>
                </a:tc>
                <a:tc>
                  <a:txBody>
                    <a:bodyPr/>
                    <a:lstStyle/>
                    <a:p>
                      <a:pPr algn="ctr"/>
                      <a:r>
                        <a:rPr lang="en-US" sz="2400" dirty="0">
                          <a:latin typeface="Times New Roman" pitchFamily="18" charset="0"/>
                          <a:cs typeface="Times New Roman" pitchFamily="18" charset="0"/>
                        </a:rPr>
                        <a:t>Author</a:t>
                      </a:r>
                    </a:p>
                  </a:txBody>
                  <a:tcPr anchor="ctr"/>
                </a:tc>
                <a:tc>
                  <a:txBody>
                    <a:bodyPr/>
                    <a:lstStyle/>
                    <a:p>
                      <a:pPr algn="ctr"/>
                      <a:r>
                        <a:rPr lang="en-US" sz="2400" dirty="0">
                          <a:latin typeface="Times New Roman" pitchFamily="18" charset="0"/>
                          <a:cs typeface="Times New Roman" pitchFamily="18" charset="0"/>
                        </a:rPr>
                        <a:t>Title</a:t>
                      </a:r>
                    </a:p>
                  </a:txBody>
                  <a:tcPr anchor="ctr"/>
                </a:tc>
                <a:tc>
                  <a:txBody>
                    <a:bodyPr/>
                    <a:lstStyle/>
                    <a:p>
                      <a:pPr algn="ctr"/>
                      <a:r>
                        <a:rPr lang="en-US" sz="2400" dirty="0">
                          <a:latin typeface="Times New Roman" pitchFamily="18" charset="0"/>
                          <a:cs typeface="Times New Roman" pitchFamily="18" charset="0"/>
                        </a:rPr>
                        <a:t>Inference</a:t>
                      </a:r>
                    </a:p>
                  </a:txBody>
                  <a:tcPr anchor="ctr"/>
                </a:tc>
                <a:extLst>
                  <a:ext uri="{0D108BD9-81ED-4DB2-BD59-A6C34878D82A}">
                    <a16:rowId xmlns:a16="http://schemas.microsoft.com/office/drawing/2014/main" val="10000"/>
                  </a:ext>
                </a:extLst>
              </a:tr>
              <a:tr h="1881664">
                <a:tc>
                  <a:txBody>
                    <a:bodyPr/>
                    <a:lstStyle/>
                    <a:p>
                      <a:pPr algn="just"/>
                      <a:r>
                        <a:rPr lang="en-US" sz="1600" dirty="0">
                          <a:latin typeface="Times New Roman" pitchFamily="18" charset="0"/>
                          <a:cs typeface="Times New Roman" pitchFamily="18" charset="0"/>
                        </a:rPr>
                        <a:t>1.</a:t>
                      </a:r>
                    </a:p>
                  </a:txBody>
                  <a:tcPr anchor="ctr"/>
                </a:tc>
                <a:tc>
                  <a:txBody>
                    <a:bodyPr/>
                    <a:lstStyle/>
                    <a:p>
                      <a:pPr algn="just"/>
                      <a:r>
                        <a:rPr lang="en-US" sz="1600" dirty="0">
                          <a:latin typeface="Times New Roman" pitchFamily="18" charset="0"/>
                          <a:cs typeface="Times New Roman" pitchFamily="18" charset="0"/>
                        </a:rPr>
                        <a:t>Partrick Joseph Kennedy P, 1996 (Thesis)</a:t>
                      </a:r>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1600" dirty="0">
                        <a:latin typeface="Times New Roman" pitchFamily="18" charset="0"/>
                        <a:cs typeface="Times New Roman" pitchFamily="18"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600" dirty="0">
                          <a:latin typeface="Times New Roman" pitchFamily="18" charset="0"/>
                          <a:cs typeface="Times New Roman" pitchFamily="18" charset="0"/>
                        </a:rPr>
                        <a:t>Thermal Analysis of Laminated composite</a:t>
                      </a:r>
                      <a:r>
                        <a:rPr lang="en-US" sz="1600" baseline="0" dirty="0">
                          <a:latin typeface="Times New Roman" pitchFamily="18" charset="0"/>
                          <a:cs typeface="Times New Roman" pitchFamily="18" charset="0"/>
                        </a:rPr>
                        <a:t> shells</a:t>
                      </a:r>
                      <a:endParaRPr lang="en-US" sz="1600" dirty="0">
                        <a:latin typeface="Times New Roman" pitchFamily="18" charset="0"/>
                        <a:cs typeface="Times New Roman" pitchFamily="18" charset="0"/>
                      </a:endParaRPr>
                    </a:p>
                    <a:p>
                      <a:pPr algn="just"/>
                      <a:endParaRPr lang="en-US" sz="1600" dirty="0">
                        <a:latin typeface="Times New Roman" pitchFamily="18" charset="0"/>
                        <a:cs typeface="Times New Roman" pitchFamily="18" charset="0"/>
                      </a:endParaRPr>
                    </a:p>
                  </a:txBody>
                  <a:tcPr anchor="ctr"/>
                </a:tc>
                <a:tc>
                  <a:txBody>
                    <a:bodyPr/>
                    <a:lstStyle/>
                    <a:p>
                      <a:pPr algn="just"/>
                      <a:r>
                        <a:rPr lang="en-US" sz="1600" dirty="0">
                          <a:latin typeface="Times New Roman" pitchFamily="18" charset="0"/>
                          <a:cs typeface="Times New Roman" pitchFamily="18" charset="0"/>
                        </a:rPr>
                        <a:t> </a:t>
                      </a:r>
                      <a:r>
                        <a:rPr lang="en-US" sz="1600" baseline="0" dirty="0">
                          <a:latin typeface="Times New Roman" pitchFamily="18" charset="0"/>
                          <a:cs typeface="Times New Roman" pitchFamily="18" charset="0"/>
                        </a:rPr>
                        <a:t>     </a:t>
                      </a:r>
                      <a:r>
                        <a:rPr lang="en-US" sz="1600" dirty="0">
                          <a:latin typeface="Times New Roman" pitchFamily="18" charset="0"/>
                          <a:cs typeface="Times New Roman" pitchFamily="18" charset="0"/>
                        </a:rPr>
                        <a:t>The author has studied the</a:t>
                      </a:r>
                      <a:r>
                        <a:rPr lang="en-US" sz="1600" baseline="0" dirty="0">
                          <a:latin typeface="Times New Roman" pitchFamily="18" charset="0"/>
                          <a:cs typeface="Times New Roman" pitchFamily="18" charset="0"/>
                        </a:rPr>
                        <a:t> p-approximation of temperature field in the thickness direction with exact integration scheme. The layered structures has been the main interest.</a:t>
                      </a:r>
                      <a:endParaRPr lang="en-US" sz="1600" dirty="0">
                        <a:latin typeface="Times New Roman" pitchFamily="18" charset="0"/>
                        <a:cs typeface="Times New Roman" pitchFamily="18" charset="0"/>
                      </a:endParaRPr>
                    </a:p>
                  </a:txBody>
                  <a:tcPr anchor="ctr"/>
                </a:tc>
                <a:extLst>
                  <a:ext uri="{0D108BD9-81ED-4DB2-BD59-A6C34878D82A}">
                    <a16:rowId xmlns:a16="http://schemas.microsoft.com/office/drawing/2014/main" val="10001"/>
                  </a:ext>
                </a:extLst>
              </a:tr>
              <a:tr h="1524000">
                <a:tc>
                  <a:txBody>
                    <a:bodyPr/>
                    <a:lstStyle/>
                    <a:p>
                      <a:pPr algn="just"/>
                      <a:r>
                        <a:rPr lang="en-US" sz="1600" dirty="0">
                          <a:latin typeface="Times New Roman" pitchFamily="18" charset="0"/>
                          <a:cs typeface="Times New Roman" pitchFamily="18" charset="0"/>
                        </a:rPr>
                        <a:t>2.</a:t>
                      </a:r>
                    </a:p>
                    <a:p>
                      <a:pPr algn="just"/>
                      <a:endParaRPr lang="en-US" sz="1600" dirty="0">
                        <a:latin typeface="Times New Roman" pitchFamily="18" charset="0"/>
                        <a:cs typeface="Times New Roman" pitchFamily="18" charset="0"/>
                      </a:endParaRPr>
                    </a:p>
                  </a:txBody>
                  <a:tcPr anchor="ctr"/>
                </a:tc>
                <a:tc>
                  <a:txBody>
                    <a:bodyPr/>
                    <a:lstStyle/>
                    <a:p>
                      <a:pPr algn="just"/>
                      <a:r>
                        <a:rPr lang="en-US" sz="1600" dirty="0" err="1">
                          <a:latin typeface="Times New Roman" pitchFamily="18" charset="0"/>
                          <a:cs typeface="Times New Roman" pitchFamily="18" charset="0"/>
                        </a:rPr>
                        <a:t>Bindu</a:t>
                      </a:r>
                      <a:r>
                        <a:rPr lang="en-US" sz="1600" dirty="0">
                          <a:latin typeface="Times New Roman" pitchFamily="18" charset="0"/>
                          <a:cs typeface="Times New Roman" pitchFamily="18" charset="0"/>
                        </a:rPr>
                        <a:t> S,</a:t>
                      </a:r>
                      <a:r>
                        <a:rPr lang="en-US" sz="1600" baseline="0" dirty="0">
                          <a:latin typeface="Times New Roman" pitchFamily="18" charset="0"/>
                          <a:cs typeface="Times New Roman" pitchFamily="18" charset="0"/>
                        </a:rPr>
                        <a:t> 2004. (Thesis)</a:t>
                      </a:r>
                      <a:endParaRPr lang="en-US" sz="1600" dirty="0">
                        <a:latin typeface="Times New Roman" pitchFamily="18" charset="0"/>
                        <a:cs typeface="Times New Roman" pitchFamily="18" charset="0"/>
                      </a:endParaRPr>
                    </a:p>
                  </a:txBody>
                  <a:tcPr anchor="ctr"/>
                </a:tc>
                <a:tc>
                  <a:txBody>
                    <a:bodyPr/>
                    <a:lstStyle/>
                    <a:p>
                      <a:pPr algn="just"/>
                      <a:r>
                        <a:rPr lang="en-US" sz="1600" dirty="0">
                          <a:latin typeface="Times New Roman" pitchFamily="18" charset="0"/>
                          <a:cs typeface="Times New Roman" pitchFamily="18" charset="0"/>
                        </a:rPr>
                        <a:t>Thermo-Mechanical Modeling of Thermal Protection system.</a:t>
                      </a:r>
                    </a:p>
                  </a:txBody>
                  <a:tcPr anchor="ctr"/>
                </a:tc>
                <a:tc>
                  <a:txBody>
                    <a:bodyPr/>
                    <a:lstStyle/>
                    <a:p>
                      <a:pPr algn="just"/>
                      <a:r>
                        <a:rPr lang="en-US" sz="1600" dirty="0">
                          <a:latin typeface="Times New Roman" pitchFamily="18" charset="0"/>
                          <a:cs typeface="Times New Roman" pitchFamily="18" charset="0"/>
                        </a:rPr>
                        <a:t>The author studies numerical modeling that precedes the  FEM</a:t>
                      </a:r>
                      <a:r>
                        <a:rPr lang="en-US" sz="1600" baseline="0" dirty="0">
                          <a:latin typeface="Times New Roman" pitchFamily="18" charset="0"/>
                          <a:cs typeface="Times New Roman" pitchFamily="18" charset="0"/>
                        </a:rPr>
                        <a:t> </a:t>
                      </a:r>
                      <a:r>
                        <a:rPr lang="en-US" sz="1600" dirty="0">
                          <a:latin typeface="Times New Roman" pitchFamily="18" charset="0"/>
                          <a:cs typeface="Times New Roman" pitchFamily="18" charset="0"/>
                        </a:rPr>
                        <a:t> analysis of thermal protection system.</a:t>
                      </a:r>
                    </a:p>
                  </a:txBody>
                  <a:tcPr anchor="ctr"/>
                </a:tc>
                <a:extLst>
                  <a:ext uri="{0D108BD9-81ED-4DB2-BD59-A6C34878D82A}">
                    <a16:rowId xmlns:a16="http://schemas.microsoft.com/office/drawing/2014/main" val="10002"/>
                  </a:ext>
                </a:extLst>
              </a:tr>
              <a:tr h="949403">
                <a:tc>
                  <a:txBody>
                    <a:bodyPr/>
                    <a:lstStyle/>
                    <a:p>
                      <a:pPr algn="just"/>
                      <a:r>
                        <a:rPr lang="en-US" sz="1600" dirty="0">
                          <a:latin typeface="Times New Roman" pitchFamily="18" charset="0"/>
                          <a:cs typeface="Times New Roman" pitchFamily="18" charset="0"/>
                        </a:rPr>
                        <a:t>3.</a:t>
                      </a:r>
                    </a:p>
                  </a:txBody>
                  <a:tcPr anchor="ctr"/>
                </a:tc>
                <a:tc>
                  <a:txBody>
                    <a:bodyPr/>
                    <a:lstStyle/>
                    <a:p>
                      <a:pPr algn="just"/>
                      <a:r>
                        <a:rPr lang="en-US" sz="1600" kern="1200" baseline="0" dirty="0">
                          <a:solidFill>
                            <a:schemeClr val="dk1"/>
                          </a:solidFill>
                          <a:latin typeface="Times New Roman" pitchFamily="18" charset="0"/>
                          <a:ea typeface="+mn-ea"/>
                          <a:cs typeface="Times New Roman" pitchFamily="18" charset="0"/>
                        </a:rPr>
                        <a:t>Ahmed Hassan, Ibrahim </a:t>
                      </a:r>
                      <a:r>
                        <a:rPr lang="en-US" sz="1600" kern="1200" baseline="0" dirty="0" err="1">
                          <a:solidFill>
                            <a:schemeClr val="dk1"/>
                          </a:solidFill>
                          <a:latin typeface="Times New Roman" pitchFamily="18" charset="0"/>
                          <a:ea typeface="+mn-ea"/>
                          <a:cs typeface="Times New Roman" pitchFamily="18" charset="0"/>
                        </a:rPr>
                        <a:t>Keles</a:t>
                      </a:r>
                      <a:r>
                        <a:rPr lang="en-US" sz="1600" kern="1200" baseline="0" dirty="0">
                          <a:solidFill>
                            <a:schemeClr val="dk1"/>
                          </a:solidFill>
                          <a:latin typeface="Times New Roman" pitchFamily="18" charset="0"/>
                          <a:ea typeface="+mn-ea"/>
                          <a:cs typeface="Times New Roman" pitchFamily="18" charset="0"/>
                        </a:rPr>
                        <a:t>, 2017</a:t>
                      </a:r>
                      <a:endParaRPr lang="en-US" sz="1600" dirty="0">
                        <a:latin typeface="Times New Roman" pitchFamily="18" charset="0"/>
                        <a:cs typeface="Times New Roman" pitchFamily="18" charset="0"/>
                      </a:endParaRPr>
                    </a:p>
                  </a:txBody>
                  <a:tcPr anchor="ctr"/>
                </a:tc>
                <a:tc>
                  <a:txBody>
                    <a:bodyPr/>
                    <a:lstStyle/>
                    <a:p>
                      <a:pPr algn="just"/>
                      <a:r>
                        <a:rPr lang="en-US" sz="1600" kern="1200" baseline="0" dirty="0">
                          <a:solidFill>
                            <a:schemeClr val="dk1"/>
                          </a:solidFill>
                          <a:latin typeface="Times New Roman" pitchFamily="18" charset="0"/>
                          <a:ea typeface="+mn-ea"/>
                          <a:cs typeface="Times New Roman" pitchFamily="18" charset="0"/>
                        </a:rPr>
                        <a:t>FGM modeling using dummy thermal loads</a:t>
                      </a:r>
                    </a:p>
                    <a:p>
                      <a:pPr algn="just"/>
                      <a:r>
                        <a:rPr lang="en-US" sz="1600" kern="1200" baseline="0" dirty="0">
                          <a:solidFill>
                            <a:schemeClr val="dk1"/>
                          </a:solidFill>
                          <a:latin typeface="Times New Roman" pitchFamily="18" charset="0"/>
                          <a:ea typeface="+mn-ea"/>
                          <a:cs typeface="Times New Roman" pitchFamily="18" charset="0"/>
                        </a:rPr>
                        <a:t>applied with ANSYS  APDL</a:t>
                      </a:r>
                      <a:endParaRPr lang="en-US" sz="1600" dirty="0">
                        <a:latin typeface="Times New Roman" pitchFamily="18" charset="0"/>
                        <a:cs typeface="Times New Roman" pitchFamily="18" charset="0"/>
                      </a:endParaRPr>
                    </a:p>
                  </a:txBody>
                  <a:tcPr anchor="ctr"/>
                </a:tc>
                <a:tc>
                  <a:txBody>
                    <a:bodyPr/>
                    <a:lstStyle/>
                    <a:p>
                      <a:pPr algn="just"/>
                      <a:r>
                        <a:rPr lang="en-US" sz="1600" dirty="0">
                          <a:latin typeface="Times New Roman" pitchFamily="18" charset="0"/>
                          <a:cs typeface="Times New Roman" pitchFamily="18" charset="0"/>
                        </a:rPr>
                        <a:t>The modeling</a:t>
                      </a:r>
                      <a:r>
                        <a:rPr lang="en-US" sz="1600" baseline="0" dirty="0">
                          <a:latin typeface="Times New Roman" pitchFamily="18" charset="0"/>
                          <a:cs typeface="Times New Roman" pitchFamily="18" charset="0"/>
                        </a:rPr>
                        <a:t> of FGM with gradient material properties in ANSYS is explained in the paper.</a:t>
                      </a:r>
                      <a:endParaRPr lang="en-US" sz="1600" dirty="0">
                        <a:latin typeface="Times New Roman" pitchFamily="18" charset="0"/>
                        <a:cs typeface="Times New Roman" pitchFamily="18" charset="0"/>
                      </a:endParaRPr>
                    </a:p>
                  </a:txBody>
                  <a:tcPr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457200" y="685800"/>
          <a:ext cx="8458200" cy="5898493"/>
        </p:xfrm>
        <a:graphic>
          <a:graphicData uri="http://schemas.openxmlformats.org/drawingml/2006/table">
            <a:tbl>
              <a:tblPr firstRow="1">
                <a:tableStyleId>{7DF18680-E054-41AD-8BC1-D1AEF772440D}</a:tableStyleId>
              </a:tblPr>
              <a:tblGrid>
                <a:gridCol w="1253067">
                  <a:extLst>
                    <a:ext uri="{9D8B030D-6E8A-4147-A177-3AD203B41FA5}">
                      <a16:colId xmlns:a16="http://schemas.microsoft.com/office/drawing/2014/main" val="20000"/>
                    </a:ext>
                  </a:extLst>
                </a:gridCol>
                <a:gridCol w="1879600">
                  <a:extLst>
                    <a:ext uri="{9D8B030D-6E8A-4147-A177-3AD203B41FA5}">
                      <a16:colId xmlns:a16="http://schemas.microsoft.com/office/drawing/2014/main" val="20001"/>
                    </a:ext>
                  </a:extLst>
                </a:gridCol>
                <a:gridCol w="2277533">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tblGrid>
              <a:tr h="670443">
                <a:tc>
                  <a:txBody>
                    <a:bodyPr/>
                    <a:lstStyle/>
                    <a:p>
                      <a:pPr algn="ctr"/>
                      <a:r>
                        <a:rPr lang="en-US" sz="2400" b="1" dirty="0">
                          <a:latin typeface="Times New Roman" pitchFamily="18" charset="0"/>
                          <a:cs typeface="Times New Roman" pitchFamily="18" charset="0"/>
                        </a:rPr>
                        <a:t>S.No.</a:t>
                      </a:r>
                    </a:p>
                  </a:txBody>
                  <a:tcPr anchor="ctr"/>
                </a:tc>
                <a:tc>
                  <a:txBody>
                    <a:bodyPr/>
                    <a:lstStyle/>
                    <a:p>
                      <a:pPr algn="ctr"/>
                      <a:r>
                        <a:rPr lang="en-US" sz="2400" b="1" dirty="0">
                          <a:latin typeface="Times New Roman" pitchFamily="18" charset="0"/>
                          <a:cs typeface="Times New Roman" pitchFamily="18" charset="0"/>
                        </a:rPr>
                        <a:t>Author</a:t>
                      </a:r>
                    </a:p>
                  </a:txBody>
                  <a:tcPr anchor="ctr"/>
                </a:tc>
                <a:tc>
                  <a:txBody>
                    <a:bodyPr/>
                    <a:lstStyle/>
                    <a:p>
                      <a:pPr algn="ctr"/>
                      <a:r>
                        <a:rPr lang="en-US" sz="2400" b="1" dirty="0">
                          <a:latin typeface="Times New Roman" pitchFamily="18" charset="0"/>
                          <a:cs typeface="Times New Roman" pitchFamily="18" charset="0"/>
                        </a:rPr>
                        <a:t>Title</a:t>
                      </a:r>
                    </a:p>
                  </a:txBody>
                  <a:tcPr anchor="ctr"/>
                </a:tc>
                <a:tc>
                  <a:txBody>
                    <a:bodyPr/>
                    <a:lstStyle/>
                    <a:p>
                      <a:pPr algn="ctr"/>
                      <a:r>
                        <a:rPr lang="en-US" sz="2400" b="1" dirty="0">
                          <a:latin typeface="Times New Roman" pitchFamily="18" charset="0"/>
                          <a:cs typeface="Times New Roman" pitchFamily="18" charset="0"/>
                        </a:rPr>
                        <a:t>Inference </a:t>
                      </a:r>
                    </a:p>
                  </a:txBody>
                  <a:tcPr anchor="ctr"/>
                </a:tc>
                <a:extLst>
                  <a:ext uri="{0D108BD9-81ED-4DB2-BD59-A6C34878D82A}">
                    <a16:rowId xmlns:a16="http://schemas.microsoft.com/office/drawing/2014/main" val="10000"/>
                  </a:ext>
                </a:extLst>
              </a:tr>
              <a:tr h="1705537">
                <a:tc>
                  <a:txBody>
                    <a:bodyPr/>
                    <a:lstStyle/>
                    <a:p>
                      <a:pPr algn="just"/>
                      <a:r>
                        <a:rPr lang="en-US" sz="1600" dirty="0">
                          <a:latin typeface="Times New Roman" pitchFamily="18" charset="0"/>
                          <a:cs typeface="Times New Roman" pitchFamily="18" charset="0"/>
                        </a:rPr>
                        <a:t>4.</a:t>
                      </a:r>
                    </a:p>
                  </a:txBody>
                  <a:tcPr anchor="ctr"/>
                </a:tc>
                <a:tc>
                  <a:txBody>
                    <a:bodyPr/>
                    <a:lstStyle/>
                    <a:p>
                      <a:pPr algn="just"/>
                      <a:r>
                        <a:rPr lang="en-US" sz="1600" dirty="0">
                          <a:latin typeface="Times New Roman" pitchFamily="18" charset="0"/>
                          <a:cs typeface="Times New Roman" pitchFamily="18" charset="0"/>
                        </a:rPr>
                        <a:t>W. P. Prema kumar,</a:t>
                      </a:r>
                      <a:r>
                        <a:rPr lang="en-US" sz="1600" baseline="0" dirty="0">
                          <a:latin typeface="Times New Roman" pitchFamily="18" charset="0"/>
                          <a:cs typeface="Times New Roman" pitchFamily="18" charset="0"/>
                        </a:rPr>
                        <a:t> R. Palaninathan, 1995</a:t>
                      </a:r>
                      <a:endParaRPr lang="en-US" sz="1600" dirty="0">
                        <a:latin typeface="Times New Roman" pitchFamily="18" charset="0"/>
                        <a:cs typeface="Times New Roman" pitchFamily="18" charset="0"/>
                      </a:endParaRPr>
                    </a:p>
                  </a:txBody>
                  <a:tcPr anchor="ctr"/>
                </a:tc>
                <a:tc>
                  <a:txBody>
                    <a:bodyPr/>
                    <a:lstStyle/>
                    <a:p>
                      <a:pPr algn="just"/>
                      <a:r>
                        <a:rPr lang="en-US" sz="1600" dirty="0">
                          <a:latin typeface="Times New Roman" pitchFamily="18" charset="0"/>
                          <a:cs typeface="Times New Roman" pitchFamily="18" charset="0"/>
                        </a:rPr>
                        <a:t>Finite Element Analysis of Laminated Shells with Exact through thickness integration</a:t>
                      </a:r>
                    </a:p>
                  </a:txBody>
                  <a:tcPr anchor="ctr"/>
                </a:tc>
                <a:tc>
                  <a:txBody>
                    <a:bodyPr/>
                    <a:lstStyle/>
                    <a:p>
                      <a:pPr algn="just"/>
                      <a:r>
                        <a:rPr lang="en-US" sz="1600" dirty="0">
                          <a:latin typeface="Times New Roman" pitchFamily="18" charset="0"/>
                          <a:cs typeface="Times New Roman" pitchFamily="18" charset="0"/>
                        </a:rPr>
                        <a:t>    The conventional numerical integration in 3D</a:t>
                      </a:r>
                      <a:r>
                        <a:rPr lang="en-US" sz="1600" baseline="0" dirty="0">
                          <a:latin typeface="Times New Roman" pitchFamily="18" charset="0"/>
                          <a:cs typeface="Times New Roman" pitchFamily="18" charset="0"/>
                        </a:rPr>
                        <a:t> are inefficient for multilayered shells. The author studies explicit integration scheme and gives a comparative study relating to computational efficiency and numerical accuracy.</a:t>
                      </a:r>
                      <a:endParaRPr lang="en-US" sz="1600" dirty="0">
                        <a:latin typeface="Times New Roman" pitchFamily="18" charset="0"/>
                        <a:cs typeface="Times New Roman" pitchFamily="18" charset="0"/>
                      </a:endParaRPr>
                    </a:p>
                  </a:txBody>
                  <a:tcPr anchor="ctr"/>
                </a:tc>
                <a:extLst>
                  <a:ext uri="{0D108BD9-81ED-4DB2-BD59-A6C34878D82A}">
                    <a16:rowId xmlns:a16="http://schemas.microsoft.com/office/drawing/2014/main" val="10001"/>
                  </a:ext>
                </a:extLst>
              </a:tr>
              <a:tr h="1631410">
                <a:tc>
                  <a:txBody>
                    <a:bodyPr/>
                    <a:lstStyle/>
                    <a:p>
                      <a:pPr algn="just"/>
                      <a:r>
                        <a:rPr lang="en-US" sz="1600" dirty="0">
                          <a:latin typeface="Times New Roman" pitchFamily="18" charset="0"/>
                          <a:cs typeface="Times New Roman" pitchFamily="18" charset="0"/>
                        </a:rPr>
                        <a:t>5.</a:t>
                      </a:r>
                    </a:p>
                  </a:txBody>
                  <a:tcPr anchor="ctr"/>
                </a:tc>
                <a:tc>
                  <a:txBody>
                    <a:bodyPr/>
                    <a:lstStyle/>
                    <a:p>
                      <a:pPr algn="l"/>
                      <a:r>
                        <a:rPr lang="en-US" sz="1600" kern="1200" dirty="0">
                          <a:solidFill>
                            <a:schemeClr val="dk1"/>
                          </a:solidFill>
                          <a:latin typeface="Times New Roman" pitchFamily="18" charset="0"/>
                          <a:ea typeface="+mn-ea"/>
                          <a:cs typeface="Times New Roman" pitchFamily="18" charset="0"/>
                        </a:rPr>
                        <a:t>Ahmed S., </a:t>
                      </a:r>
                      <a:r>
                        <a:rPr lang="en-US" sz="1600" kern="1200" dirty="0" err="1">
                          <a:solidFill>
                            <a:schemeClr val="dk1"/>
                          </a:solidFill>
                          <a:latin typeface="Times New Roman" pitchFamily="18" charset="0"/>
                          <a:ea typeface="+mn-ea"/>
                          <a:cs typeface="Times New Roman" pitchFamily="18" charset="0"/>
                        </a:rPr>
                        <a:t>Itons</a:t>
                      </a:r>
                      <a:r>
                        <a:rPr lang="en-US" sz="1600" kern="1200" dirty="0">
                          <a:solidFill>
                            <a:schemeClr val="dk1"/>
                          </a:solidFill>
                          <a:latin typeface="Times New Roman" pitchFamily="18" charset="0"/>
                          <a:ea typeface="+mn-ea"/>
                          <a:cs typeface="Times New Roman" pitchFamily="18" charset="0"/>
                        </a:rPr>
                        <a:t> B.M. and </a:t>
                      </a:r>
                      <a:r>
                        <a:rPr lang="en-US" sz="1600" kern="1200" dirty="0" err="1">
                          <a:solidFill>
                            <a:schemeClr val="dk1"/>
                          </a:solidFill>
                          <a:latin typeface="Times New Roman" pitchFamily="18" charset="0"/>
                          <a:ea typeface="+mn-ea"/>
                          <a:cs typeface="Times New Roman" pitchFamily="18" charset="0"/>
                        </a:rPr>
                        <a:t>Zienkiewic</a:t>
                      </a:r>
                      <a:r>
                        <a:rPr lang="en-US" sz="1600" kern="1200" dirty="0">
                          <a:solidFill>
                            <a:schemeClr val="dk1"/>
                          </a:solidFill>
                          <a:latin typeface="Times New Roman" pitchFamily="18" charset="0"/>
                          <a:ea typeface="+mn-ea"/>
                          <a:cs typeface="Times New Roman" pitchFamily="18" charset="0"/>
                        </a:rPr>
                        <a:t> O.C (1970)</a:t>
                      </a:r>
                      <a:endParaRPr lang="en-US" sz="1600" dirty="0">
                        <a:latin typeface="Times New Roman" pitchFamily="18" charset="0"/>
                        <a:cs typeface="Times New Roman" pitchFamily="18" charset="0"/>
                      </a:endParaRPr>
                    </a:p>
                  </a:txBody>
                  <a:tcPr anchor="ctr"/>
                </a:tc>
                <a:tc>
                  <a:txBody>
                    <a:bodyPr/>
                    <a:lstStyle/>
                    <a:p>
                      <a:pPr algn="l"/>
                      <a:r>
                        <a:rPr lang="en-US" sz="1600" kern="1200" dirty="0">
                          <a:solidFill>
                            <a:schemeClr val="dk1"/>
                          </a:solidFill>
                          <a:latin typeface="Times New Roman" pitchFamily="18" charset="0"/>
                          <a:ea typeface="+mn-ea"/>
                          <a:cs typeface="Times New Roman" pitchFamily="18" charset="0"/>
                        </a:rPr>
                        <a:t>Analysis of Thick and Thin Shell Structure by Curved Finite Elements</a:t>
                      </a:r>
                      <a:endParaRPr lang="en-US" sz="1600" dirty="0">
                        <a:latin typeface="Times New Roman" pitchFamily="18" charset="0"/>
                        <a:cs typeface="Times New Roman" pitchFamily="18" charset="0"/>
                      </a:endParaRPr>
                    </a:p>
                  </a:txBody>
                  <a:tcPr anchor="ctr"/>
                </a:tc>
                <a:tc>
                  <a:txBody>
                    <a:bodyPr/>
                    <a:lstStyle/>
                    <a:p>
                      <a:pPr algn="just"/>
                      <a:r>
                        <a:rPr lang="en-US" sz="1600" baseline="0" dirty="0">
                          <a:latin typeface="Times New Roman" pitchFamily="18" charset="0"/>
                          <a:cs typeface="Times New Roman" pitchFamily="18" charset="0"/>
                        </a:rPr>
                        <a:t>    Formulation of degenerated shell element. This element was first proposed by this team.</a:t>
                      </a:r>
                      <a:endParaRPr lang="en-US" sz="1600" dirty="0">
                        <a:latin typeface="Times New Roman" pitchFamily="18" charset="0"/>
                        <a:cs typeface="Times New Roman" pitchFamily="18" charset="0"/>
                      </a:endParaRPr>
                    </a:p>
                  </a:txBody>
                  <a:tcPr anchor="ctr"/>
                </a:tc>
                <a:extLst>
                  <a:ext uri="{0D108BD9-81ED-4DB2-BD59-A6C34878D82A}">
                    <a16:rowId xmlns:a16="http://schemas.microsoft.com/office/drawing/2014/main" val="10002"/>
                  </a:ext>
                </a:extLst>
              </a:tr>
              <a:tr h="1631410">
                <a:tc>
                  <a:txBody>
                    <a:bodyPr/>
                    <a:lstStyle/>
                    <a:p>
                      <a:pPr algn="just"/>
                      <a:r>
                        <a:rPr lang="en-US" sz="1600" dirty="0">
                          <a:latin typeface="Times New Roman" pitchFamily="18" charset="0"/>
                          <a:cs typeface="Times New Roman" pitchFamily="18" charset="0"/>
                        </a:rPr>
                        <a:t>6.</a:t>
                      </a:r>
                    </a:p>
                  </a:txBody>
                  <a:tcPr anchor="ctr"/>
                </a:tc>
                <a:tc>
                  <a:txBody>
                    <a:bodyPr/>
                    <a:lstStyle/>
                    <a:p>
                      <a:r>
                        <a:rPr lang="en-US" sz="1800" kern="1200" dirty="0">
                          <a:solidFill>
                            <a:schemeClr val="dk1"/>
                          </a:solidFill>
                          <a:latin typeface="+mn-lt"/>
                          <a:ea typeface="+mn-ea"/>
                          <a:cs typeface="+mn-cs"/>
                        </a:rPr>
                        <a:t> </a:t>
                      </a:r>
                    </a:p>
                    <a:p>
                      <a:r>
                        <a:rPr lang="en-US" sz="1600" kern="1200" dirty="0">
                          <a:solidFill>
                            <a:schemeClr val="dk1"/>
                          </a:solidFill>
                          <a:latin typeface="Times New Roman" pitchFamily="18" charset="0"/>
                          <a:ea typeface="+mn-ea"/>
                          <a:cs typeface="Times New Roman" pitchFamily="18" charset="0"/>
                        </a:rPr>
                        <a:t>V </a:t>
                      </a:r>
                      <a:r>
                        <a:rPr lang="en-US" sz="1600" kern="1200" dirty="0" err="1">
                          <a:solidFill>
                            <a:schemeClr val="dk1"/>
                          </a:solidFill>
                          <a:latin typeface="Times New Roman" pitchFamily="18" charset="0"/>
                          <a:ea typeface="+mn-ea"/>
                          <a:cs typeface="Times New Roman" pitchFamily="18" charset="0"/>
                        </a:rPr>
                        <a:t>Balamurugan</a:t>
                      </a:r>
                      <a:r>
                        <a:rPr lang="en-US" sz="1600" kern="1200" dirty="0">
                          <a:solidFill>
                            <a:schemeClr val="dk1"/>
                          </a:solidFill>
                          <a:latin typeface="Times New Roman" pitchFamily="18" charset="0"/>
                          <a:ea typeface="+mn-ea"/>
                          <a:cs typeface="Times New Roman" pitchFamily="18" charset="0"/>
                        </a:rPr>
                        <a:t> and S Narayanan (2008)</a:t>
                      </a:r>
                      <a:endParaRPr lang="en-US" sz="1600" dirty="0">
                        <a:latin typeface="Times New Roman" pitchFamily="18" charset="0"/>
                        <a:cs typeface="Times New Roman" pitchFamily="18" charset="0"/>
                      </a:endParaRPr>
                    </a:p>
                  </a:txBody>
                  <a:tcPr anchor="ctr"/>
                </a:tc>
                <a:tc>
                  <a:txBody>
                    <a:bodyPr/>
                    <a:lstStyle/>
                    <a:p>
                      <a:pPr algn="just"/>
                      <a:r>
                        <a:rPr lang="en-US" sz="1600" kern="1200" dirty="0">
                          <a:solidFill>
                            <a:schemeClr val="dk1"/>
                          </a:solidFill>
                          <a:latin typeface="Times New Roman" pitchFamily="18" charset="0"/>
                          <a:ea typeface="+mn-ea"/>
                          <a:cs typeface="Times New Roman" pitchFamily="18" charset="0"/>
                        </a:rPr>
                        <a:t>A piezolaminated composite degenerated shell finite element for active control of structures</a:t>
                      </a:r>
                      <a:r>
                        <a:rPr lang="en-US" sz="1600" kern="1200" baseline="0" dirty="0">
                          <a:solidFill>
                            <a:schemeClr val="dk1"/>
                          </a:solidFill>
                          <a:latin typeface="Times New Roman" pitchFamily="18" charset="0"/>
                          <a:ea typeface="+mn-ea"/>
                          <a:cs typeface="Times New Roman" pitchFamily="18" charset="0"/>
                        </a:rPr>
                        <a:t> </a:t>
                      </a:r>
                      <a:r>
                        <a:rPr lang="en-US" sz="1600" kern="1200" dirty="0">
                          <a:solidFill>
                            <a:schemeClr val="dk1"/>
                          </a:solidFill>
                          <a:latin typeface="Times New Roman" pitchFamily="18" charset="0"/>
                          <a:ea typeface="+mn-ea"/>
                          <a:cs typeface="Times New Roman" pitchFamily="18" charset="0"/>
                        </a:rPr>
                        <a:t>with distributed piezosensors and actuators</a:t>
                      </a:r>
                      <a:endParaRPr lang="en-US" sz="1600" dirty="0">
                        <a:latin typeface="Times New Roman" pitchFamily="18" charset="0"/>
                        <a:cs typeface="Times New Roman" pitchFamily="18" charset="0"/>
                      </a:endParaRPr>
                    </a:p>
                  </a:txBody>
                  <a:tcPr anchor="ctr"/>
                </a:tc>
                <a:tc>
                  <a:txBody>
                    <a:bodyPr/>
                    <a:lstStyle/>
                    <a:p>
                      <a:pPr algn="just"/>
                      <a:r>
                        <a:rPr lang="en-US" sz="1600" baseline="0" dirty="0">
                          <a:latin typeface="Times New Roman" pitchFamily="18" charset="0"/>
                          <a:cs typeface="Times New Roman" pitchFamily="18" charset="0"/>
                        </a:rPr>
                        <a:t>      </a:t>
                      </a:r>
                      <a:r>
                        <a:rPr lang="en-US" sz="1600" dirty="0">
                          <a:latin typeface="Times New Roman" pitchFamily="18" charset="0"/>
                          <a:cs typeface="Times New Roman" pitchFamily="18" charset="0"/>
                        </a:rPr>
                        <a:t>FEM analysis of </a:t>
                      </a:r>
                      <a:r>
                        <a:rPr lang="en-US" sz="1600" baseline="0" dirty="0">
                          <a:latin typeface="Times New Roman" pitchFamily="18" charset="0"/>
                          <a:cs typeface="Times New Roman" pitchFamily="18" charset="0"/>
                        </a:rPr>
                        <a:t> piezo laminated FGM structures. Degenerated shell element has been used.</a:t>
                      </a:r>
                    </a:p>
                    <a:p>
                      <a:pPr algn="just"/>
                      <a:endParaRPr lang="en-US" sz="1600" baseline="0" dirty="0">
                        <a:latin typeface="Times New Roman" pitchFamily="18" charset="0"/>
                        <a:cs typeface="Times New Roman" pitchFamily="18" charset="0"/>
                      </a:endParaRPr>
                    </a:p>
                  </a:txBody>
                  <a:tcPr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609600" y="319825"/>
          <a:ext cx="8077200" cy="6221663"/>
        </p:xfrm>
        <a:graphic>
          <a:graphicData uri="http://schemas.openxmlformats.org/drawingml/2006/table">
            <a:tbl>
              <a:tblPr firstRow="1" bandRow="1">
                <a:tableStyleId>{5C22544A-7EE6-4342-B048-85BDC9FD1C3A}</a:tableStyleId>
              </a:tblPr>
              <a:tblGrid>
                <a:gridCol w="897467">
                  <a:extLst>
                    <a:ext uri="{9D8B030D-6E8A-4147-A177-3AD203B41FA5}">
                      <a16:colId xmlns:a16="http://schemas.microsoft.com/office/drawing/2014/main" val="20000"/>
                    </a:ext>
                  </a:extLst>
                </a:gridCol>
                <a:gridCol w="1944511">
                  <a:extLst>
                    <a:ext uri="{9D8B030D-6E8A-4147-A177-3AD203B41FA5}">
                      <a16:colId xmlns:a16="http://schemas.microsoft.com/office/drawing/2014/main" val="20001"/>
                    </a:ext>
                  </a:extLst>
                </a:gridCol>
                <a:gridCol w="2187222">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tblGrid>
              <a:tr h="417350">
                <a:tc>
                  <a:txBody>
                    <a:bodyPr/>
                    <a:lstStyle/>
                    <a:p>
                      <a:pPr algn="ctr"/>
                      <a:r>
                        <a:rPr lang="en-US" dirty="0">
                          <a:latin typeface="Times New Roman" pitchFamily="18" charset="0"/>
                          <a:cs typeface="Times New Roman" pitchFamily="18" charset="0"/>
                        </a:rPr>
                        <a:t>S.</a:t>
                      </a:r>
                      <a:r>
                        <a:rPr lang="en-US" baseline="0" dirty="0">
                          <a:latin typeface="Times New Roman" pitchFamily="18" charset="0"/>
                          <a:cs typeface="Times New Roman" pitchFamily="18" charset="0"/>
                        </a:rPr>
                        <a:t> n</a:t>
                      </a:r>
                      <a:r>
                        <a:rPr lang="en-US" dirty="0">
                          <a:latin typeface="Times New Roman" pitchFamily="18" charset="0"/>
                          <a:cs typeface="Times New Roman" pitchFamily="18" charset="0"/>
                        </a:rPr>
                        <a:t>o</a:t>
                      </a:r>
                    </a:p>
                  </a:txBody>
                  <a:tcPr anchor="ctr"/>
                </a:tc>
                <a:tc>
                  <a:txBody>
                    <a:bodyPr/>
                    <a:lstStyle/>
                    <a:p>
                      <a:pPr algn="ctr"/>
                      <a:r>
                        <a:rPr lang="en-US" dirty="0">
                          <a:latin typeface="Times New Roman" pitchFamily="18" charset="0"/>
                          <a:cs typeface="Times New Roman" pitchFamily="18" charset="0"/>
                        </a:rPr>
                        <a:t>Author</a:t>
                      </a:r>
                    </a:p>
                  </a:txBody>
                  <a:tcPr anchor="ctr"/>
                </a:tc>
                <a:tc>
                  <a:txBody>
                    <a:bodyPr/>
                    <a:lstStyle/>
                    <a:p>
                      <a:pPr algn="ctr"/>
                      <a:r>
                        <a:rPr lang="en-US" dirty="0">
                          <a:latin typeface="Times New Roman" pitchFamily="18" charset="0"/>
                          <a:cs typeface="Times New Roman" pitchFamily="18" charset="0"/>
                        </a:rPr>
                        <a:t>Title </a:t>
                      </a:r>
                    </a:p>
                  </a:txBody>
                  <a:tcPr anchor="ctr"/>
                </a:tc>
                <a:tc>
                  <a:txBody>
                    <a:bodyPr/>
                    <a:lstStyle/>
                    <a:p>
                      <a:pPr algn="ctr"/>
                      <a:r>
                        <a:rPr lang="en-US" dirty="0">
                          <a:latin typeface="Times New Roman" pitchFamily="18" charset="0"/>
                          <a:cs typeface="Times New Roman" pitchFamily="18" charset="0"/>
                        </a:rPr>
                        <a:t>Inference</a:t>
                      </a:r>
                    </a:p>
                  </a:txBody>
                  <a:tcPr anchor="ctr"/>
                </a:tc>
                <a:extLst>
                  <a:ext uri="{0D108BD9-81ED-4DB2-BD59-A6C34878D82A}">
                    <a16:rowId xmlns:a16="http://schemas.microsoft.com/office/drawing/2014/main" val="10000"/>
                  </a:ext>
                </a:extLst>
              </a:tr>
              <a:tr h="2145313">
                <a:tc>
                  <a:txBody>
                    <a:bodyPr/>
                    <a:lstStyle/>
                    <a:p>
                      <a:pPr algn="just"/>
                      <a:r>
                        <a:rPr lang="en-US" dirty="0">
                          <a:latin typeface="Times New Roman" pitchFamily="18" charset="0"/>
                          <a:cs typeface="Times New Roman" pitchFamily="18" charset="0"/>
                        </a:rPr>
                        <a:t>7.</a:t>
                      </a:r>
                    </a:p>
                  </a:txBody>
                  <a:tcPr anchor="ctr"/>
                </a:tc>
                <a:tc>
                  <a:txBody>
                    <a:bodyPr/>
                    <a:lstStyle/>
                    <a:p>
                      <a:pPr algn="just"/>
                      <a:r>
                        <a:rPr lang="en-US" dirty="0">
                          <a:latin typeface="Times New Roman" pitchFamily="18" charset="0"/>
                          <a:cs typeface="Times New Roman" pitchFamily="18" charset="0"/>
                        </a:rPr>
                        <a:t>Karan S. Surana &amp; Robert K. Phillips (1987)</a:t>
                      </a:r>
                    </a:p>
                  </a:txBody>
                  <a:tcPr anchor="ctr"/>
                </a:tc>
                <a:tc>
                  <a:txBody>
                    <a:bodyPr/>
                    <a:lstStyle/>
                    <a:p>
                      <a:pPr algn="just"/>
                      <a:r>
                        <a:rPr lang="en-US" dirty="0">
                          <a:latin typeface="Times New Roman" pitchFamily="18" charset="0"/>
                          <a:cs typeface="Times New Roman" pitchFamily="18" charset="0"/>
                        </a:rPr>
                        <a:t>Three</a:t>
                      </a:r>
                      <a:r>
                        <a:rPr lang="en-US" baseline="0" dirty="0">
                          <a:latin typeface="Times New Roman" pitchFamily="18" charset="0"/>
                          <a:cs typeface="Times New Roman" pitchFamily="18" charset="0"/>
                        </a:rPr>
                        <a:t> dimensional curved shell finite element for heat conduction</a:t>
                      </a:r>
                      <a:endParaRPr lang="en-US" dirty="0">
                        <a:latin typeface="Times New Roman" pitchFamily="18" charset="0"/>
                        <a:cs typeface="Times New Roman" pitchFamily="18" charset="0"/>
                      </a:endParaRPr>
                    </a:p>
                  </a:txBody>
                  <a:tcPr anchor="ctr"/>
                </a:tc>
                <a:tc>
                  <a:txBody>
                    <a:bodyPr/>
                    <a:lstStyle/>
                    <a:p>
                      <a:pPr algn="just"/>
                      <a:r>
                        <a:rPr lang="en-US" dirty="0">
                          <a:latin typeface="Times New Roman" pitchFamily="18" charset="0"/>
                          <a:cs typeface="Times New Roman" pitchFamily="18" charset="0"/>
                        </a:rPr>
                        <a:t>The author worked on the heat conduction phenomenon ,of curved shells. The work has been carried out by taking the nodal</a:t>
                      </a:r>
                      <a:r>
                        <a:rPr lang="en-US" baseline="0" dirty="0">
                          <a:latin typeface="Times New Roman" pitchFamily="18" charset="0"/>
                          <a:cs typeface="Times New Roman" pitchFamily="18" charset="0"/>
                        </a:rPr>
                        <a:t> temperature as well as the gradient of  temperature in the thickness direction as a  degree of freedom.</a:t>
                      </a:r>
                      <a:endParaRPr lang="en-US" dirty="0">
                        <a:latin typeface="Times New Roman" pitchFamily="18" charset="0"/>
                        <a:cs typeface="Times New Roman" pitchFamily="18" charset="0"/>
                      </a:endParaRPr>
                    </a:p>
                  </a:txBody>
                  <a:tcPr anchor="ctr"/>
                </a:tc>
                <a:extLst>
                  <a:ext uri="{0D108BD9-81ED-4DB2-BD59-A6C34878D82A}">
                    <a16:rowId xmlns:a16="http://schemas.microsoft.com/office/drawing/2014/main" val="10001"/>
                  </a:ext>
                </a:extLst>
              </a:tr>
              <a:tr h="1887875">
                <a:tc>
                  <a:txBody>
                    <a:bodyPr/>
                    <a:lstStyle/>
                    <a:p>
                      <a:pPr algn="just"/>
                      <a:r>
                        <a:rPr lang="en-US" dirty="0">
                          <a:latin typeface="Times New Roman" pitchFamily="18" charset="0"/>
                          <a:cs typeface="Times New Roman" pitchFamily="18" charset="0"/>
                        </a:rPr>
                        <a:t>8.</a:t>
                      </a:r>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baseline="0" dirty="0">
                          <a:solidFill>
                            <a:schemeClr val="dk1"/>
                          </a:solidFill>
                          <a:latin typeface="Times New Roman" pitchFamily="18" charset="0"/>
                          <a:ea typeface="+mn-ea"/>
                          <a:cs typeface="Times New Roman" pitchFamily="18" charset="0"/>
                        </a:rPr>
                        <a:t>Karan S. Surana and G. Abusaleh (1989)</a:t>
                      </a:r>
                    </a:p>
                    <a:p>
                      <a:pPr algn="just"/>
                      <a:endParaRPr lang="en-US" dirty="0">
                        <a:latin typeface="Times New Roman" pitchFamily="18" charset="0"/>
                        <a:cs typeface="Times New Roman" pitchFamily="18" charset="0"/>
                      </a:endParaRPr>
                    </a:p>
                  </a:txBody>
                  <a:tcPr anchor="ctr"/>
                </a:tc>
                <a:tc>
                  <a:txBody>
                    <a:bodyPr/>
                    <a:lstStyle/>
                    <a:p>
                      <a:pPr algn="just"/>
                      <a:r>
                        <a:rPr lang="en-US" sz="1800" kern="1200" baseline="0" dirty="0">
                          <a:solidFill>
                            <a:schemeClr val="dk1"/>
                          </a:solidFill>
                          <a:latin typeface="Times New Roman" pitchFamily="18" charset="0"/>
                          <a:ea typeface="+mn-ea"/>
                          <a:cs typeface="Times New Roman" pitchFamily="18" charset="0"/>
                        </a:rPr>
                        <a:t>Curved shell elements for heat conduction</a:t>
                      </a:r>
                    </a:p>
                    <a:p>
                      <a:pPr algn="just"/>
                      <a:r>
                        <a:rPr lang="en-US" sz="1800" kern="1200" baseline="0" dirty="0">
                          <a:solidFill>
                            <a:schemeClr val="dk1"/>
                          </a:solidFill>
                          <a:latin typeface="Times New Roman" pitchFamily="18" charset="0"/>
                          <a:ea typeface="+mn-ea"/>
                          <a:cs typeface="Times New Roman" pitchFamily="18" charset="0"/>
                        </a:rPr>
                        <a:t>with p-approximation in the shell</a:t>
                      </a:r>
                    </a:p>
                    <a:p>
                      <a:pPr algn="just"/>
                      <a:r>
                        <a:rPr lang="en-US" sz="1800" kern="1200" baseline="0" dirty="0">
                          <a:solidFill>
                            <a:schemeClr val="dk1"/>
                          </a:solidFill>
                          <a:latin typeface="Times New Roman" pitchFamily="18" charset="0"/>
                          <a:ea typeface="+mn-ea"/>
                          <a:cs typeface="Times New Roman" pitchFamily="18" charset="0"/>
                        </a:rPr>
                        <a:t>thickness direction</a:t>
                      </a:r>
                    </a:p>
                  </a:txBody>
                  <a:tcPr anchor="ctr"/>
                </a:tc>
                <a:tc>
                  <a:txBody>
                    <a:bodyPr/>
                    <a:lstStyle/>
                    <a:p>
                      <a:pPr algn="just"/>
                      <a:r>
                        <a:rPr lang="en-US" dirty="0">
                          <a:latin typeface="Times New Roman" pitchFamily="18" charset="0"/>
                          <a:cs typeface="Times New Roman" pitchFamily="18" charset="0"/>
                        </a:rPr>
                        <a:t>Hierarchical function has been employed, wherein the  degree</a:t>
                      </a:r>
                      <a:r>
                        <a:rPr lang="en-US" baseline="0" dirty="0">
                          <a:latin typeface="Times New Roman" pitchFamily="18" charset="0"/>
                          <a:cs typeface="Times New Roman" pitchFamily="18" charset="0"/>
                        </a:rPr>
                        <a:t> of polynomial approximating the temperature along the thickness is varied to suit the requirement. </a:t>
                      </a:r>
                      <a:endParaRPr lang="en-US" dirty="0">
                        <a:latin typeface="Times New Roman" pitchFamily="18" charset="0"/>
                        <a:cs typeface="Times New Roman" pitchFamily="18" charset="0"/>
                      </a:endParaRPr>
                    </a:p>
                  </a:txBody>
                  <a:tcPr anchor="ctr"/>
                </a:tc>
                <a:extLst>
                  <a:ext uri="{0D108BD9-81ED-4DB2-BD59-A6C34878D82A}">
                    <a16:rowId xmlns:a16="http://schemas.microsoft.com/office/drawing/2014/main" val="10002"/>
                  </a:ext>
                </a:extLst>
              </a:tr>
              <a:tr h="1630438">
                <a:tc>
                  <a:txBody>
                    <a:bodyPr/>
                    <a:lstStyle/>
                    <a:p>
                      <a:pPr algn="just"/>
                      <a:r>
                        <a:rPr lang="en-US" dirty="0">
                          <a:latin typeface="Times New Roman" pitchFamily="18" charset="0"/>
                          <a:cs typeface="Times New Roman" pitchFamily="18" charset="0"/>
                        </a:rPr>
                        <a:t>9.</a:t>
                      </a:r>
                    </a:p>
                  </a:txBody>
                  <a:tcPr anchor="ctr"/>
                </a:tc>
                <a:tc>
                  <a:txBody>
                    <a:bodyPr/>
                    <a:lstStyle/>
                    <a:p>
                      <a:pPr algn="just"/>
                      <a:r>
                        <a:rPr lang="en-US" dirty="0">
                          <a:latin typeface="Times New Roman" pitchFamily="18" charset="0"/>
                          <a:cs typeface="Times New Roman" pitchFamily="18" charset="0"/>
                        </a:rPr>
                        <a:t>Karan S. Surana &amp; Orth</a:t>
                      </a:r>
                      <a:r>
                        <a:rPr lang="en-US" baseline="0" dirty="0">
                          <a:latin typeface="Times New Roman" pitchFamily="18" charset="0"/>
                          <a:cs typeface="Times New Roman" pitchFamily="18" charset="0"/>
                        </a:rPr>
                        <a:t> J nilus (1989)</a:t>
                      </a:r>
                      <a:endParaRPr lang="en-US" dirty="0">
                        <a:latin typeface="Times New Roman" pitchFamily="18" charset="0"/>
                        <a:cs typeface="Times New Roman" pitchFamily="18" charset="0"/>
                      </a:endParaRPr>
                    </a:p>
                  </a:txBody>
                  <a:tcPr anchor="ctr"/>
                </a:tc>
                <a:tc>
                  <a:txBody>
                    <a:bodyPr/>
                    <a:lstStyle/>
                    <a:p>
                      <a:pPr algn="just"/>
                      <a:r>
                        <a:rPr lang="en-US" dirty="0">
                          <a:latin typeface="Times New Roman" pitchFamily="18" charset="0"/>
                          <a:cs typeface="Times New Roman" pitchFamily="18" charset="0"/>
                        </a:rPr>
                        <a:t>P-approximation axisymmetric shell element for heat conduction in laminated composites</a:t>
                      </a:r>
                    </a:p>
                  </a:txBody>
                  <a:tcPr anchor="ctr"/>
                </a:tc>
                <a:tc>
                  <a:txBody>
                    <a:bodyPr/>
                    <a:lstStyle/>
                    <a:p>
                      <a:pPr algn="just"/>
                      <a:r>
                        <a:rPr lang="en-US" dirty="0">
                          <a:latin typeface="Times New Roman" pitchFamily="18" charset="0"/>
                          <a:cs typeface="Times New Roman" pitchFamily="18" charset="0"/>
                        </a:rPr>
                        <a:t>The p- approximation</a:t>
                      </a:r>
                      <a:r>
                        <a:rPr lang="en-US" baseline="0" dirty="0">
                          <a:latin typeface="Times New Roman" pitchFamily="18" charset="0"/>
                          <a:cs typeface="Times New Roman" pitchFamily="18" charset="0"/>
                        </a:rPr>
                        <a:t> of the temperature variation is extended to composite structures.</a:t>
                      </a:r>
                      <a:endParaRPr lang="en-US" dirty="0">
                        <a:latin typeface="Times New Roman" pitchFamily="18" charset="0"/>
                        <a:cs typeface="Times New Roman" pitchFamily="18" charset="0"/>
                      </a:endParaRPr>
                    </a:p>
                  </a:txBody>
                  <a:tcPr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2800" dirty="0">
                <a:solidFill>
                  <a:schemeClr val="tx2">
                    <a:lumMod val="50000"/>
                  </a:schemeClr>
                </a:solidFill>
                <a:latin typeface="Times New Roman" pitchFamily="18" charset="0"/>
                <a:cs typeface="Times New Roman" pitchFamily="18" charset="0"/>
              </a:rPr>
              <a:t>Research Methodology</a:t>
            </a:r>
          </a:p>
        </p:txBody>
      </p:sp>
      <p:graphicFrame>
        <p:nvGraphicFramePr>
          <p:cNvPr id="5" name="Content Placeholder 4"/>
          <p:cNvGraphicFramePr>
            <a:graphicFrameLocks noGrp="1"/>
          </p:cNvGraphicFramePr>
          <p:nvPr>
            <p:ph idx="1"/>
          </p:nvPr>
        </p:nvGraphicFramePr>
        <p:xfrm>
          <a:off x="457200" y="1219200"/>
          <a:ext cx="8229600"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4000" dirty="0">
                <a:solidFill>
                  <a:schemeClr val="tx2">
                    <a:lumMod val="50000"/>
                  </a:schemeClr>
                </a:solidFill>
                <a:latin typeface="Times New Roman" pitchFamily="18" charset="0"/>
                <a:cs typeface="Times New Roman" pitchFamily="18" charset="0"/>
              </a:rPr>
              <a:t>Expected output</a:t>
            </a:r>
          </a:p>
        </p:txBody>
      </p:sp>
      <p:sp>
        <p:nvSpPr>
          <p:cNvPr id="3" name="Content Placeholder 2"/>
          <p:cNvSpPr>
            <a:spLocks noGrp="1"/>
          </p:cNvSpPr>
          <p:nvPr>
            <p:ph idx="1"/>
          </p:nvPr>
        </p:nvSpPr>
        <p:spPr/>
        <p:txBody>
          <a:bodyPr/>
          <a:lstStyle/>
          <a:p>
            <a:pPr algn="just">
              <a:lnSpc>
                <a:spcPct val="150000"/>
              </a:lnSpc>
              <a:buNone/>
            </a:pPr>
            <a:r>
              <a:rPr lang="en-US" dirty="0">
                <a:latin typeface="Times New Roman" pitchFamily="18" charset="0"/>
                <a:cs typeface="Times New Roman" pitchFamily="18" charset="0"/>
              </a:rPr>
              <a:t>		The output of the work is bring out an effective FEM program, that can perform efficient numerical analysis on FGM for coupled thermal and mechanical loads and obtain results as close to analytic results as possible.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230A2-A075-3126-D64C-4DB9A7900666}"/>
              </a:ext>
            </a:extLst>
          </p:cNvPr>
          <p:cNvSpPr>
            <a:spLocks noGrp="1"/>
          </p:cNvSpPr>
          <p:nvPr>
            <p:ph type="title"/>
          </p:nvPr>
        </p:nvSpPr>
        <p:spPr>
          <a:xfrm>
            <a:off x="533400" y="2590800"/>
            <a:ext cx="8229600" cy="1143000"/>
          </a:xfrm>
        </p:spPr>
        <p:txBody>
          <a:bodyPr/>
          <a:lstStyle/>
          <a:p>
            <a:r>
              <a:rPr lang="en-US" b="1" dirty="0">
                <a:solidFill>
                  <a:schemeClr val="accent1">
                    <a:lumMod val="75000"/>
                  </a:schemeClr>
                </a:solidFill>
              </a:rPr>
              <a:t>Formulation</a:t>
            </a:r>
            <a:endParaRPr lang="en-IN" b="1" dirty="0">
              <a:solidFill>
                <a:schemeClr val="accent1">
                  <a:lumMod val="75000"/>
                </a:schemeClr>
              </a:solidFill>
            </a:endParaRPr>
          </a:p>
        </p:txBody>
      </p:sp>
    </p:spTree>
    <p:extLst>
      <p:ext uri="{BB962C8B-B14F-4D97-AF65-F5344CB8AC3E}">
        <p14:creationId xmlns:p14="http://schemas.microsoft.com/office/powerpoint/2010/main" val="658011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Modeling: Thermal System</a:t>
            </a:r>
          </a:p>
        </p:txBody>
      </p:sp>
      <p:pic>
        <p:nvPicPr>
          <p:cNvPr id="7" name="Content Placeholder 6"/>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1828800"/>
            <a:ext cx="5867400" cy="3886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3" name="Picture 3" descr="C:\Users\Nirmal\Desktop\report downloads\boundary.png"/>
          <p:cNvPicPr>
            <a:picLocks noGrp="1" noChangeAspect="1" noChangeArrowheads="1"/>
          </p:cNvPicPr>
          <p:nvPr>
            <p:ph idx="1"/>
          </p:nvPr>
        </p:nvPicPr>
        <p:blipFill>
          <a:blip r:embed="rId2"/>
          <a:srcRect/>
          <a:stretch>
            <a:fillRect/>
          </a:stretch>
        </p:blipFill>
        <p:spPr bwMode="auto">
          <a:xfrm>
            <a:off x="533400" y="381000"/>
            <a:ext cx="5334001" cy="3200400"/>
          </a:xfrm>
          <a:prstGeom prst="rect">
            <a:avLst/>
          </a:prstGeom>
          <a:noFill/>
        </p:spPr>
      </p:pic>
      <p:pic>
        <p:nvPicPr>
          <p:cNvPr id="46136" name="Picture 56"/>
          <p:cNvPicPr>
            <a:picLocks noChangeAspect="1" noChangeArrowheads="1"/>
          </p:cNvPicPr>
          <p:nvPr/>
        </p:nvPicPr>
        <p:blipFill>
          <a:blip r:embed="rId3"/>
          <a:srcRect/>
          <a:stretch>
            <a:fillRect/>
          </a:stretch>
        </p:blipFill>
        <p:spPr bwMode="auto">
          <a:xfrm>
            <a:off x="1066800" y="4157248"/>
            <a:ext cx="3581400" cy="719551"/>
          </a:xfrm>
          <a:prstGeom prst="rect">
            <a:avLst/>
          </a:prstGeom>
          <a:noFill/>
          <a:ln w="9525">
            <a:noFill/>
            <a:miter lim="800000"/>
            <a:headEnd/>
            <a:tailEnd/>
          </a:ln>
          <a:effectLst/>
        </p:spPr>
      </p:pic>
      <p:sp>
        <p:nvSpPr>
          <p:cNvPr id="46138" name="Rectangle 5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 name="TextBox 62"/>
          <p:cNvSpPr txBox="1"/>
          <p:nvPr/>
        </p:nvSpPr>
        <p:spPr>
          <a:xfrm>
            <a:off x="685800" y="3581400"/>
            <a:ext cx="5083892" cy="369332"/>
          </a:xfrm>
          <a:prstGeom prst="rect">
            <a:avLst/>
          </a:prstGeom>
          <a:noFill/>
        </p:spPr>
        <p:txBody>
          <a:bodyPr wrap="none" rtlCol="0">
            <a:spAutoFit/>
          </a:bodyPr>
          <a:lstStyle/>
          <a:p>
            <a:r>
              <a:rPr lang="en-US" dirty="0"/>
              <a:t>The governing equation for heat transfer is given by;</a:t>
            </a:r>
          </a:p>
        </p:txBody>
      </p:sp>
      <p:sp>
        <p:nvSpPr>
          <p:cNvPr id="46142" name="Rectangle 6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0" name="TextBox 69"/>
          <p:cNvSpPr txBox="1"/>
          <p:nvPr/>
        </p:nvSpPr>
        <p:spPr>
          <a:xfrm>
            <a:off x="533400" y="5105400"/>
            <a:ext cx="8281832" cy="646331"/>
          </a:xfrm>
          <a:prstGeom prst="rect">
            <a:avLst/>
          </a:prstGeom>
          <a:noFill/>
        </p:spPr>
        <p:txBody>
          <a:bodyPr wrap="square" rtlCol="0">
            <a:spAutoFit/>
          </a:bodyPr>
          <a:lstStyle/>
          <a:p>
            <a:r>
              <a:rPr lang="en-US" dirty="0"/>
              <a:t>	</a:t>
            </a:r>
            <a:r>
              <a:rPr lang="en-US" sz="1600" dirty="0">
                <a:latin typeface="Times New Roman" pitchFamily="18" charset="0"/>
                <a:cs typeface="Times New Roman" pitchFamily="18" charset="0"/>
              </a:rPr>
              <a:t>The weak form of the above equation is constructed and by minimization of potential energy the elemental equations are obtained</a:t>
            </a:r>
            <a:r>
              <a:rPr lang="en-US"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1" name="Picture 3" descr="C:\Users\Nirmal\Desktop\report downloads\1.png"/>
          <p:cNvPicPr>
            <a:picLocks noGrp="1" noChangeAspect="1" noChangeArrowheads="1"/>
          </p:cNvPicPr>
          <p:nvPr>
            <p:ph idx="1"/>
          </p:nvPr>
        </p:nvPicPr>
        <p:blipFill>
          <a:blip r:embed="rId2"/>
          <a:srcRect/>
          <a:stretch>
            <a:fillRect/>
          </a:stretch>
        </p:blipFill>
        <p:spPr bwMode="auto">
          <a:xfrm>
            <a:off x="1136210" y="944358"/>
            <a:ext cx="7017190" cy="5075442"/>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itchFamily="18" charset="0"/>
                <a:cs typeface="Times New Roman" pitchFamily="18" charset="0"/>
              </a:rPr>
              <a:t>Degenerated shell Element</a:t>
            </a:r>
          </a:p>
        </p:txBody>
      </p:sp>
      <p:pic>
        <p:nvPicPr>
          <p:cNvPr id="4" name="Content Placeholder 3"/>
          <p:cNvPicPr>
            <a:picLocks noGrp="1"/>
          </p:cNvPicPr>
          <p:nvPr>
            <p:ph idx="1"/>
          </p:nvPr>
        </p:nvPicPr>
        <p:blipFill>
          <a:blip r:embed="rId2"/>
          <a:srcRect b="16332"/>
          <a:stretch>
            <a:fillRect/>
          </a:stretch>
        </p:blipFill>
        <p:spPr bwMode="auto">
          <a:xfrm>
            <a:off x="1252718" y="1600200"/>
            <a:ext cx="6638563" cy="4525963"/>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itchFamily="18" charset="0"/>
                <a:cs typeface="Times New Roman" pitchFamily="18" charset="0"/>
              </a:rPr>
              <a:t>Shape function of Degenerated Element</a:t>
            </a:r>
          </a:p>
        </p:txBody>
      </p:sp>
      <p:pic>
        <p:nvPicPr>
          <p:cNvPr id="51202" name="Picture 2" descr="C:\Users\Nirmal\Desktop\report downloads\6.png"/>
          <p:cNvPicPr>
            <a:picLocks noGrp="1" noChangeAspect="1" noChangeArrowheads="1"/>
          </p:cNvPicPr>
          <p:nvPr>
            <p:ph idx="1"/>
          </p:nvPr>
        </p:nvPicPr>
        <p:blipFill>
          <a:blip r:embed="rId2"/>
          <a:srcRect/>
          <a:stretch>
            <a:fillRect/>
          </a:stretch>
        </p:blipFill>
        <p:spPr bwMode="auto">
          <a:xfrm>
            <a:off x="1709338" y="1981200"/>
            <a:ext cx="6297856" cy="33528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7.png"/>
          <p:cNvPicPr>
            <a:picLocks noGrp="1" noChangeAspect="1"/>
          </p:cNvPicPr>
          <p:nvPr>
            <p:ph idx="1"/>
          </p:nvPr>
        </p:nvPicPr>
        <p:blipFill>
          <a:blip r:embed="rId2"/>
          <a:stretch>
            <a:fillRect/>
          </a:stretch>
        </p:blipFill>
        <p:spPr>
          <a:xfrm>
            <a:off x="2165203" y="838200"/>
            <a:ext cx="5624020" cy="5287963"/>
          </a:xfr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Shell Element</a:t>
            </a:r>
          </a:p>
        </p:txBody>
      </p:sp>
      <p:pic>
        <p:nvPicPr>
          <p:cNvPr id="5" name="Content Placeholder 4" descr="_20181005_081813.jpg"/>
          <p:cNvPicPr>
            <a:picLocks noGrp="1" noChangeAspect="1"/>
          </p:cNvPicPr>
          <p:nvPr>
            <p:ph idx="1"/>
          </p:nvPr>
        </p:nvPicPr>
        <p:blipFill>
          <a:blip r:embed="rId2" cstate="print"/>
          <a:stretch>
            <a:fillRect/>
          </a:stretch>
        </p:blipFill>
        <p:spPr>
          <a:xfrm>
            <a:off x="1524000" y="1828800"/>
            <a:ext cx="6189804" cy="4525963"/>
          </a:xfr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Shell Element</a:t>
            </a:r>
          </a:p>
        </p:txBody>
      </p:sp>
      <p:pic>
        <p:nvPicPr>
          <p:cNvPr id="4098" name="Picture 2"/>
          <p:cNvPicPr>
            <a:picLocks noGrp="1" noChangeAspect="1" noChangeArrowheads="1"/>
          </p:cNvPicPr>
          <p:nvPr>
            <p:ph idx="1"/>
          </p:nvPr>
        </p:nvPicPr>
        <p:blipFill>
          <a:blip r:embed="rId2"/>
          <a:srcRect/>
          <a:stretch>
            <a:fillRect/>
          </a:stretch>
        </p:blipFill>
        <p:spPr bwMode="auto">
          <a:xfrm>
            <a:off x="914400" y="1981200"/>
            <a:ext cx="4171950" cy="1600200"/>
          </a:xfrm>
          <a:prstGeom prst="rect">
            <a:avLst/>
          </a:prstGeom>
          <a:noFill/>
          <a:ln w="9525">
            <a:noFill/>
            <a:miter lim="800000"/>
            <a:headEnd/>
            <a:tailEnd/>
          </a:ln>
          <a:effectLst/>
        </p:spPr>
      </p:pic>
      <p:pic>
        <p:nvPicPr>
          <p:cNvPr id="4100" name="Picture 4"/>
          <p:cNvPicPr>
            <a:picLocks noChangeAspect="1" noChangeArrowheads="1"/>
          </p:cNvPicPr>
          <p:nvPr/>
        </p:nvPicPr>
        <p:blipFill>
          <a:blip r:embed="rId3"/>
          <a:srcRect/>
          <a:stretch>
            <a:fillRect/>
          </a:stretch>
        </p:blipFill>
        <p:spPr bwMode="auto">
          <a:xfrm>
            <a:off x="914400" y="4114800"/>
            <a:ext cx="5248275" cy="1476375"/>
          </a:xfrm>
          <a:prstGeom prst="rect">
            <a:avLst/>
          </a:prstGeom>
          <a:noFill/>
          <a:ln w="9525">
            <a:noFill/>
            <a:miter lim="800000"/>
            <a:headEnd/>
            <a:tailEnd/>
          </a:ln>
          <a:effectLst/>
        </p:spPr>
      </p:pic>
      <p:sp>
        <p:nvSpPr>
          <p:cNvPr id="7" name="TextBox 6"/>
          <p:cNvSpPr txBox="1"/>
          <p:nvPr/>
        </p:nvSpPr>
        <p:spPr>
          <a:xfrm>
            <a:off x="1143000" y="1524000"/>
            <a:ext cx="3270895" cy="369332"/>
          </a:xfrm>
          <a:prstGeom prst="rect">
            <a:avLst/>
          </a:prstGeom>
          <a:noFill/>
        </p:spPr>
        <p:txBody>
          <a:bodyPr wrap="none" rtlCol="0">
            <a:spAutoFit/>
          </a:bodyPr>
          <a:lstStyle/>
          <a:p>
            <a:r>
              <a:rPr lang="en-US" dirty="0"/>
              <a:t>For Liner variation shell element:</a:t>
            </a:r>
          </a:p>
        </p:txBody>
      </p:sp>
      <p:sp>
        <p:nvSpPr>
          <p:cNvPr id="8" name="TextBox 7"/>
          <p:cNvSpPr txBox="1"/>
          <p:nvPr/>
        </p:nvSpPr>
        <p:spPr>
          <a:xfrm>
            <a:off x="990600" y="3657600"/>
            <a:ext cx="3690434" cy="369332"/>
          </a:xfrm>
          <a:prstGeom prst="rect">
            <a:avLst/>
          </a:prstGeom>
          <a:noFill/>
        </p:spPr>
        <p:txBody>
          <a:bodyPr wrap="none" rtlCol="0">
            <a:spAutoFit/>
          </a:bodyPr>
          <a:lstStyle/>
          <a:p>
            <a:r>
              <a:rPr lang="en-US" dirty="0"/>
              <a:t>For quadratic variation shell element: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1800" dirty="0">
                <a:latin typeface="Times New Roman" pitchFamily="18" charset="0"/>
                <a:cs typeface="Times New Roman" pitchFamily="18" charset="0"/>
              </a:rPr>
              <a:t>Lagrange Polynomial for temperature variation along the shell thickness:</a:t>
            </a:r>
          </a:p>
        </p:txBody>
      </p:sp>
      <p:pic>
        <p:nvPicPr>
          <p:cNvPr id="5122" name="Picture 2"/>
          <p:cNvPicPr>
            <a:picLocks noGrp="1" noChangeAspect="1" noChangeArrowheads="1"/>
          </p:cNvPicPr>
          <p:nvPr>
            <p:ph idx="1"/>
          </p:nvPr>
        </p:nvPicPr>
        <p:blipFill>
          <a:blip r:embed="rId2"/>
          <a:srcRect/>
          <a:stretch>
            <a:fillRect/>
          </a:stretch>
        </p:blipFill>
        <p:spPr bwMode="auto">
          <a:xfrm>
            <a:off x="914400" y="1066800"/>
            <a:ext cx="7391400" cy="487680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Shell Element</a:t>
            </a:r>
          </a:p>
        </p:txBody>
      </p:sp>
      <p:pic>
        <p:nvPicPr>
          <p:cNvPr id="6146" name="Picture 2"/>
          <p:cNvPicPr>
            <a:picLocks noGrp="1" noChangeAspect="1" noChangeArrowheads="1"/>
          </p:cNvPicPr>
          <p:nvPr>
            <p:ph idx="1"/>
          </p:nvPr>
        </p:nvPicPr>
        <p:blipFill>
          <a:blip r:embed="rId2"/>
          <a:srcRect/>
          <a:stretch>
            <a:fillRect/>
          </a:stretch>
        </p:blipFill>
        <p:spPr bwMode="auto">
          <a:xfrm>
            <a:off x="1275055" y="2234824"/>
            <a:ext cx="6268745" cy="3022975"/>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4.png"/>
          <p:cNvPicPr>
            <a:picLocks noGrp="1" noChangeAspect="1"/>
          </p:cNvPicPr>
          <p:nvPr>
            <p:ph idx="1"/>
          </p:nvPr>
        </p:nvPicPr>
        <p:blipFill>
          <a:blip r:embed="rId2"/>
          <a:stretch>
            <a:fillRect/>
          </a:stretch>
        </p:blipFill>
        <p:spPr>
          <a:xfrm>
            <a:off x="1020852" y="1066800"/>
            <a:ext cx="7851831" cy="5105399"/>
          </a:xfr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Nirmal\Desktop\Capture1.PNG"/>
          <p:cNvPicPr>
            <a:picLocks noGrp="1" noChangeAspect="1" noChangeArrowheads="1"/>
          </p:cNvPicPr>
          <p:nvPr>
            <p:ph idx="1"/>
          </p:nvPr>
        </p:nvPicPr>
        <p:blipFill>
          <a:blip r:embed="rId2"/>
          <a:srcRect/>
          <a:stretch>
            <a:fillRect/>
          </a:stretch>
        </p:blipFill>
        <p:spPr bwMode="auto">
          <a:xfrm>
            <a:off x="2651818" y="1066801"/>
            <a:ext cx="3392000" cy="4939806"/>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descr="C:\Users\Nirmal\Desktop\report downloads\2.png"/>
          <p:cNvPicPr>
            <a:picLocks noGrp="1" noChangeAspect="1" noChangeArrowheads="1"/>
          </p:cNvPicPr>
          <p:nvPr>
            <p:ph idx="1"/>
          </p:nvPr>
        </p:nvPicPr>
        <p:blipFill>
          <a:blip r:embed="rId2"/>
          <a:srcRect/>
          <a:stretch>
            <a:fillRect/>
          </a:stretch>
        </p:blipFill>
        <p:spPr bwMode="auto">
          <a:xfrm>
            <a:off x="309701" y="1828800"/>
            <a:ext cx="7248804" cy="3810000"/>
          </a:xfrm>
          <a:prstGeom prst="rect">
            <a:avLst/>
          </a:prstGeom>
          <a:noFill/>
        </p:spPr>
      </p:pic>
      <p:sp>
        <p:nvSpPr>
          <p:cNvPr id="2" name="Title 1">
            <a:extLst>
              <a:ext uri="{FF2B5EF4-FFF2-40B4-BE49-F238E27FC236}">
                <a16:creationId xmlns:a16="http://schemas.microsoft.com/office/drawing/2014/main" id="{EB49B772-AD86-0EF9-5D19-631DFAE6D668}"/>
              </a:ext>
            </a:extLst>
          </p:cNvPr>
          <p:cNvSpPr>
            <a:spLocks noGrp="1"/>
          </p:cNvSpPr>
          <p:nvPr>
            <p:ph type="title"/>
          </p:nvPr>
        </p:nvSpPr>
        <p:spPr>
          <a:xfrm>
            <a:off x="457200" y="274638"/>
            <a:ext cx="8229600" cy="1143000"/>
          </a:xfrm>
        </p:spPr>
        <p:txBody>
          <a:bodyPr/>
          <a:lstStyle/>
          <a:p>
            <a:r>
              <a:rPr lang="en-US" dirty="0"/>
              <a:t>Final equations to be solved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3.png"/>
          <p:cNvPicPr>
            <a:picLocks noGrp="1" noChangeAspect="1"/>
          </p:cNvPicPr>
          <p:nvPr>
            <p:ph idx="1"/>
          </p:nvPr>
        </p:nvPicPr>
        <p:blipFill>
          <a:blip r:embed="rId2"/>
          <a:stretch>
            <a:fillRect/>
          </a:stretch>
        </p:blipFill>
        <p:spPr>
          <a:xfrm>
            <a:off x="922124" y="1295400"/>
            <a:ext cx="6622091" cy="4658811"/>
          </a:xfrm>
        </p:spPr>
      </p:pic>
      <p:sp>
        <p:nvSpPr>
          <p:cNvPr id="2" name="Title 1">
            <a:extLst>
              <a:ext uri="{FF2B5EF4-FFF2-40B4-BE49-F238E27FC236}">
                <a16:creationId xmlns:a16="http://schemas.microsoft.com/office/drawing/2014/main" id="{9E4885E6-EC61-8843-D527-894A2B154E14}"/>
              </a:ext>
            </a:extLst>
          </p:cNvPr>
          <p:cNvSpPr>
            <a:spLocks noGrp="1"/>
          </p:cNvSpPr>
          <p:nvPr>
            <p:ph type="title"/>
          </p:nvPr>
        </p:nvSpPr>
        <p:spPr>
          <a:xfrm>
            <a:off x="457200" y="274638"/>
            <a:ext cx="8229600" cy="1143000"/>
          </a:xfrm>
        </p:spPr>
        <p:txBody>
          <a:bodyPr/>
          <a:lstStyle/>
          <a:p>
            <a:r>
              <a:rPr lang="en-US" dirty="0"/>
              <a:t>Modeling material properties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itchFamily="18" charset="0"/>
                <a:cs typeface="Times New Roman" pitchFamily="18" charset="0"/>
              </a:rPr>
              <a:t>Exact integration scheme</a:t>
            </a:r>
          </a:p>
        </p:txBody>
      </p:sp>
      <p:pic>
        <p:nvPicPr>
          <p:cNvPr id="3075" name="Picture 3" descr="C:\Users\Nirmal\Desktop\Capture2.PNG"/>
          <p:cNvPicPr>
            <a:picLocks noGrp="1" noChangeAspect="1" noChangeArrowheads="1"/>
          </p:cNvPicPr>
          <p:nvPr>
            <p:ph idx="1"/>
          </p:nvPr>
        </p:nvPicPr>
        <p:blipFill>
          <a:blip r:embed="rId2"/>
          <a:srcRect/>
          <a:stretch>
            <a:fillRect/>
          </a:stretch>
        </p:blipFill>
        <p:spPr bwMode="auto">
          <a:xfrm>
            <a:off x="1666100" y="1600200"/>
            <a:ext cx="5662879" cy="46482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Nirmal\Desktop\Capture3.PNG"/>
          <p:cNvPicPr>
            <a:picLocks noGrp="1" noChangeAspect="1" noChangeArrowheads="1"/>
          </p:cNvPicPr>
          <p:nvPr>
            <p:ph idx="1"/>
          </p:nvPr>
        </p:nvPicPr>
        <p:blipFill>
          <a:blip r:embed="rId2"/>
          <a:srcRect/>
          <a:stretch>
            <a:fillRect/>
          </a:stretch>
        </p:blipFill>
        <p:spPr bwMode="auto">
          <a:xfrm>
            <a:off x="1425400" y="848156"/>
            <a:ext cx="5909236" cy="5552644"/>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r>
              <a:rPr lang="en-US" sz="2400" dirty="0">
                <a:latin typeface="Times New Roman" pitchFamily="18" charset="0"/>
                <a:cs typeface="Times New Roman" pitchFamily="18" charset="0"/>
              </a:rPr>
              <a:t>Thermo structural analysis</a:t>
            </a:r>
          </a:p>
        </p:txBody>
      </p:sp>
      <p:pic>
        <p:nvPicPr>
          <p:cNvPr id="4" name="Content Placeholder 3" descr="8.png"/>
          <p:cNvPicPr>
            <a:picLocks noGrp="1" noChangeAspect="1"/>
          </p:cNvPicPr>
          <p:nvPr>
            <p:ph idx="1"/>
          </p:nvPr>
        </p:nvPicPr>
        <p:blipFill>
          <a:blip r:embed="rId2"/>
          <a:stretch>
            <a:fillRect/>
          </a:stretch>
        </p:blipFill>
        <p:spPr>
          <a:xfrm>
            <a:off x="1981200" y="1143000"/>
            <a:ext cx="4896534" cy="1724244"/>
          </a:xfrm>
        </p:spPr>
      </p:pic>
      <p:pic>
        <p:nvPicPr>
          <p:cNvPr id="5" name="Picture 4" descr="9.png"/>
          <p:cNvPicPr>
            <a:picLocks noChangeAspect="1"/>
          </p:cNvPicPr>
          <p:nvPr/>
        </p:nvPicPr>
        <p:blipFill>
          <a:blip r:embed="rId3"/>
          <a:stretch>
            <a:fillRect/>
          </a:stretch>
        </p:blipFill>
        <p:spPr>
          <a:xfrm>
            <a:off x="1752601" y="1878882"/>
            <a:ext cx="5257800" cy="497911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10.png"/>
          <p:cNvPicPr>
            <a:picLocks noGrp="1" noChangeAspect="1"/>
          </p:cNvPicPr>
          <p:nvPr>
            <p:ph idx="1"/>
          </p:nvPr>
        </p:nvPicPr>
        <p:blipFill>
          <a:blip r:embed="rId2"/>
          <a:stretch>
            <a:fillRect/>
          </a:stretch>
        </p:blipFill>
        <p:spPr>
          <a:xfrm>
            <a:off x="1295400" y="990600"/>
            <a:ext cx="6096000" cy="5181600"/>
          </a:xfr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latin typeface="Times New Roman" pitchFamily="18" charset="0"/>
                <a:cs typeface="Times New Roman" pitchFamily="18" charset="0"/>
              </a:rPr>
              <a:t>Solution Methodology</a:t>
            </a: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pic>
        <p:nvPicPr>
          <p:cNvPr id="2050" name="Picture 2" descr="C:\Users\Nirmal\Desktop\banded solver.PNG"/>
          <p:cNvPicPr>
            <a:picLocks noGrp="1" noChangeAspect="1" noChangeArrowheads="1"/>
          </p:cNvPicPr>
          <p:nvPr>
            <p:ph idx="1"/>
          </p:nvPr>
        </p:nvPicPr>
        <p:blipFill>
          <a:blip r:embed="rId2"/>
          <a:srcRect/>
          <a:stretch>
            <a:fillRect/>
          </a:stretch>
        </p:blipFill>
        <p:spPr bwMode="auto">
          <a:xfrm>
            <a:off x="2590800" y="1447800"/>
            <a:ext cx="3538755" cy="4739984"/>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9C8C42-5401-EACE-8709-C71E1F5134DF}"/>
              </a:ext>
            </a:extLst>
          </p:cNvPr>
          <p:cNvSpPr txBox="1">
            <a:spLocks/>
          </p:cNvSpPr>
          <p:nvPr/>
        </p:nvSpPr>
        <p:spPr>
          <a:xfrm>
            <a:off x="533400" y="2590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solidFill>
                  <a:schemeClr val="accent1">
                    <a:lumMod val="75000"/>
                  </a:schemeClr>
                </a:solidFill>
              </a:rPr>
              <a:t>Results</a:t>
            </a:r>
            <a:endParaRPr lang="en-IN" b="1" dirty="0">
              <a:solidFill>
                <a:schemeClr val="accent1">
                  <a:lumMod val="75000"/>
                </a:schemeClr>
              </a:solidFill>
            </a:endParaRPr>
          </a:p>
        </p:txBody>
      </p:sp>
    </p:spTree>
    <p:extLst>
      <p:ext uri="{BB962C8B-B14F-4D97-AF65-F5344CB8AC3E}">
        <p14:creationId xmlns:p14="http://schemas.microsoft.com/office/powerpoint/2010/main" val="26338918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itchFamily="18" charset="0"/>
                <a:cs typeface="Times New Roman" pitchFamily="18" charset="0"/>
              </a:rPr>
              <a:t>Validation of code</a:t>
            </a:r>
          </a:p>
        </p:txBody>
      </p:sp>
      <p:pic>
        <p:nvPicPr>
          <p:cNvPr id="4" name="Content Placeholder 3"/>
          <p:cNvPicPr>
            <a:picLocks noGrp="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293053" y="1600200"/>
            <a:ext cx="4557893" cy="452596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Finite element model</a:t>
            </a:r>
          </a:p>
        </p:txBody>
      </p:sp>
      <p:pic>
        <p:nvPicPr>
          <p:cNvPr id="4" name="Content Placeholder 3"/>
          <p:cNvPicPr>
            <a:picLocks noGrp="1"/>
          </p:cNvPicPr>
          <p:nvPr>
            <p:ph idx="1"/>
          </p:nvPr>
        </p:nvPicPr>
        <p:blipFill rotWithShape="1">
          <a:blip r:embed="rId2"/>
          <a:srcRect l="54576" t="34876" r="9709" b="10836"/>
          <a:stretch/>
        </p:blipFill>
        <p:spPr bwMode="auto">
          <a:xfrm>
            <a:off x="2248534" y="1877543"/>
            <a:ext cx="4646932" cy="3971276"/>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marL="0" marR="0" indent="457200" algn="just">
              <a:spcBef>
                <a:spcPts val="1200"/>
              </a:spcBef>
              <a:spcAft>
                <a:spcPts val="0"/>
              </a:spcAft>
              <a:buNone/>
            </a:pPr>
            <a:r>
              <a:rPr lang="en-US" sz="2800" dirty="0">
                <a:latin typeface="Times New Roman"/>
                <a:ea typeface="Calibri"/>
              </a:rPr>
              <a:t>The above displayed finite element model is analysed for the isotropic material property specified below. Thermal conductivity k=30W/m K, Temperature boundary condition as depicted in the Figure earlier used and heat generation Q=10W/.</a:t>
            </a:r>
          </a:p>
          <a:p>
            <a:pPr marL="0" marR="0" indent="457200" algn="just">
              <a:spcBef>
                <a:spcPts val="1200"/>
              </a:spcBef>
              <a:spcAft>
                <a:spcPts val="0"/>
              </a:spcAft>
              <a:buNone/>
            </a:pPr>
            <a:endParaRPr lang="en-US" dirty="0">
              <a:latin typeface="Times New Roman"/>
              <a:ea typeface="Calibri"/>
            </a:endParaRPr>
          </a:p>
          <a:p>
            <a:pPr>
              <a:buNone/>
            </a:pPr>
            <a:endParaRPr lang="en-US" dirty="0"/>
          </a:p>
        </p:txBody>
      </p:sp>
      <p:graphicFrame>
        <p:nvGraphicFramePr>
          <p:cNvPr id="4" name="Chart 3"/>
          <p:cNvGraphicFramePr/>
          <p:nvPr/>
        </p:nvGraphicFramePr>
        <p:xfrm>
          <a:off x="2057400" y="3200400"/>
          <a:ext cx="4552950" cy="30480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Material property considered</a:t>
            </a:r>
          </a:p>
        </p:txBody>
      </p:sp>
      <p:pic>
        <p:nvPicPr>
          <p:cNvPr id="5122" name="Picture 2" descr="C:\Users\Nirmal\Desktop\Capture4.PNG"/>
          <p:cNvPicPr>
            <a:picLocks noGrp="1" noChangeAspect="1" noChangeArrowheads="1"/>
          </p:cNvPicPr>
          <p:nvPr>
            <p:ph idx="1"/>
          </p:nvPr>
        </p:nvPicPr>
        <p:blipFill>
          <a:blip r:embed="rId2"/>
          <a:srcRect/>
          <a:stretch>
            <a:fillRect/>
          </a:stretch>
        </p:blipFill>
        <p:spPr bwMode="auto">
          <a:xfrm>
            <a:off x="1084554" y="1828800"/>
            <a:ext cx="7167282" cy="396240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a:bodyPr>
          <a:lstStyle/>
          <a:p>
            <a:pPr marL="0" marR="0" algn="just">
              <a:lnSpc>
                <a:spcPct val="150000"/>
              </a:lnSpc>
              <a:spcBef>
                <a:spcPts val="0"/>
              </a:spcBef>
              <a:spcAft>
                <a:spcPts val="0"/>
              </a:spcAft>
              <a:buNone/>
              <a:tabLst>
                <a:tab pos="2457450" algn="l"/>
              </a:tabLst>
            </a:pPr>
            <a:endParaRPr lang="en-US" sz="2200" dirty="0">
              <a:latin typeface="Times New Roman"/>
              <a:ea typeface="Calibri"/>
            </a:endParaRPr>
          </a:p>
          <a:p>
            <a:pPr marL="0" marR="0" algn="just">
              <a:lnSpc>
                <a:spcPct val="150000"/>
              </a:lnSpc>
              <a:spcBef>
                <a:spcPts val="0"/>
              </a:spcBef>
              <a:spcAft>
                <a:spcPts val="0"/>
              </a:spcAft>
              <a:buNone/>
              <a:tabLst>
                <a:tab pos="2457450" algn="l"/>
              </a:tabLst>
            </a:pPr>
            <a:endParaRPr lang="en-US" sz="2200" dirty="0">
              <a:latin typeface="Times New Roman"/>
              <a:ea typeface="Calibri"/>
            </a:endParaRPr>
          </a:p>
          <a:p>
            <a:pPr marL="0" marR="0" algn="just">
              <a:lnSpc>
                <a:spcPct val="150000"/>
              </a:lnSpc>
              <a:spcBef>
                <a:spcPts val="0"/>
              </a:spcBef>
              <a:spcAft>
                <a:spcPts val="0"/>
              </a:spcAft>
              <a:buNone/>
              <a:tabLst>
                <a:tab pos="2457450" algn="l"/>
              </a:tabLst>
            </a:pPr>
            <a:r>
              <a:rPr lang="en-US" sz="2200" dirty="0">
                <a:latin typeface="Times New Roman"/>
                <a:ea typeface="Calibri"/>
              </a:rPr>
              <a:t>The finite element code is used to solve the thermal problem for isotropic plates made of Aluminium and Zirconium. The results are verified with the data in the literature. The material properties are given in the Table 5.1. The plates are subjected to internal heat generation thermal loads (Q=10W/</a:t>
            </a:r>
            <a:r>
              <a:rPr lang="en-US" sz="2200" dirty="0">
                <a:latin typeface="Times New Roman"/>
                <a:ea typeface="Times New Roman"/>
              </a:rPr>
              <a:t>. 4</a:t>
            </a:r>
            <a:r>
              <a:rPr lang="en-US" sz="2200" dirty="0">
                <a:latin typeface="Times New Roman"/>
                <a:ea typeface="Times New Roman"/>
                <a:sym typeface="Symbol"/>
              </a:rPr>
              <a:t></a:t>
            </a:r>
            <a:r>
              <a:rPr lang="en-US" sz="2200" dirty="0">
                <a:latin typeface="Times New Roman"/>
                <a:ea typeface="Times New Roman"/>
              </a:rPr>
              <a:t>4 mesh is employed to solve the numerical problem.</a:t>
            </a:r>
            <a:endParaRPr lang="en-US" sz="2200" dirty="0">
              <a:latin typeface="Times New Roman"/>
              <a:ea typeface="Calibri"/>
            </a:endParaRPr>
          </a:p>
          <a:p>
            <a:pPr>
              <a:buNone/>
            </a:pP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Results for Aluminium plate</a:t>
            </a:r>
          </a:p>
        </p:txBody>
      </p:sp>
      <p:graphicFrame>
        <p:nvGraphicFramePr>
          <p:cNvPr id="5" name="Content Placeholder 4"/>
          <p:cNvGraphicFramePr>
            <a:graphicFrameLocks noGrp="1"/>
          </p:cNvGraphicFramePr>
          <p:nvPr>
            <p:ph idx="1"/>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for Zircon plate</a:t>
            </a:r>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706562"/>
          </a:xfrm>
        </p:spPr>
        <p:txBody>
          <a:bodyPr>
            <a:normAutofit/>
          </a:bodyPr>
          <a:lstStyle/>
          <a:p>
            <a:r>
              <a:rPr lang="en-US" sz="2800" dirty="0"/>
              <a:t>Analysis of Shell Structure</a:t>
            </a:r>
          </a:p>
        </p:txBody>
      </p:sp>
      <p:sp>
        <p:nvSpPr>
          <p:cNvPr id="3" name="Content Placeholder 2"/>
          <p:cNvSpPr>
            <a:spLocks noGrp="1"/>
          </p:cNvSpPr>
          <p:nvPr>
            <p:ph idx="1"/>
          </p:nvPr>
        </p:nvSpPr>
        <p:spPr>
          <a:xfrm>
            <a:off x="457200" y="838200"/>
            <a:ext cx="8229600" cy="5257800"/>
          </a:xfrm>
        </p:spPr>
        <p:txBody>
          <a:bodyPr>
            <a:normAutofit/>
          </a:bodyPr>
          <a:lstStyle/>
          <a:p>
            <a:pPr>
              <a:buNone/>
            </a:pPr>
            <a:r>
              <a:rPr lang="en-US" sz="1800" dirty="0">
                <a:latin typeface="Times New Roman"/>
                <a:ea typeface="Calibri"/>
              </a:rPr>
              <a:t>          </a:t>
            </a:r>
          </a:p>
          <a:p>
            <a:pPr>
              <a:buNone/>
            </a:pPr>
            <a:endParaRPr lang="en-US" sz="1800" dirty="0">
              <a:latin typeface="Times New Roman"/>
              <a:ea typeface="Calibri"/>
            </a:endParaRPr>
          </a:p>
          <a:p>
            <a:pPr>
              <a:buNone/>
            </a:pPr>
            <a:endParaRPr lang="en-US" sz="1800" dirty="0">
              <a:latin typeface="Times New Roman"/>
              <a:ea typeface="Calibri"/>
            </a:endParaRPr>
          </a:p>
          <a:p>
            <a:pPr>
              <a:buNone/>
            </a:pPr>
            <a:endParaRPr lang="en-US" sz="1800" dirty="0">
              <a:latin typeface="Times New Roman"/>
              <a:ea typeface="Calibri"/>
            </a:endParaRPr>
          </a:p>
          <a:p>
            <a:pPr>
              <a:buNone/>
            </a:pPr>
            <a:endParaRPr lang="en-US" sz="1800" dirty="0">
              <a:latin typeface="Times New Roman"/>
              <a:ea typeface="Calibri"/>
            </a:endParaRPr>
          </a:p>
          <a:p>
            <a:pPr>
              <a:lnSpc>
                <a:spcPct val="150000"/>
              </a:lnSpc>
              <a:buNone/>
            </a:pPr>
            <a:r>
              <a:rPr lang="en-US" sz="1800" dirty="0">
                <a:latin typeface="Times New Roman"/>
                <a:ea typeface="Calibri"/>
              </a:rPr>
              <a:t>		  A cylindrical shell of 12 unit length, 10.2 mean radius and 0.4 unit thickness is taken for analysis. The material model is assumed to be isotropic with K=3 (Co-efficient of thermal conduction). The structure is subjected to uniform heat flux in the internal surface and convection in the outer surface. The boundary condition does not vary with </a:t>
            </a:r>
            <a:r>
              <a:rPr lang="en-US" sz="1800" dirty="0">
                <a:latin typeface="Times New Roman"/>
                <a:ea typeface="Calibri"/>
                <a:cs typeface="Times New Roman"/>
                <a:sym typeface="Symbol"/>
              </a:rPr>
              <a:t></a:t>
            </a:r>
            <a:r>
              <a:rPr lang="en-US" sz="1800" dirty="0">
                <a:latin typeface="Times New Roman"/>
                <a:ea typeface="Calibri"/>
              </a:rPr>
              <a:t> hence; a radial vector of 3 degree is taken considering aspect ratio consideration.  And due to symmetry only one half of the length (6units) is taken. </a:t>
            </a:r>
          </a:p>
          <a:p>
            <a:pPr>
              <a:buNone/>
            </a:pP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fontScale="40000" lnSpcReduction="20000"/>
          </a:bodyPr>
          <a:lstStyle/>
          <a:p>
            <a:pPr marL="0" marR="0">
              <a:lnSpc>
                <a:spcPct val="150000"/>
              </a:lnSpc>
              <a:spcBef>
                <a:spcPts val="0"/>
              </a:spcBef>
              <a:spcAft>
                <a:spcPts val="0"/>
              </a:spcAft>
              <a:buNone/>
              <a:tabLst>
                <a:tab pos="571500" algn="l"/>
              </a:tabLst>
            </a:pPr>
            <a:r>
              <a:rPr lang="en-US" b="1" dirty="0">
                <a:latin typeface="Times New Roman"/>
                <a:ea typeface="Calibri"/>
              </a:rPr>
              <a:t>Case a:</a:t>
            </a:r>
            <a:endParaRPr lang="en-US" dirty="0">
              <a:latin typeface="Times New Roman"/>
              <a:ea typeface="Calibri"/>
            </a:endParaRPr>
          </a:p>
          <a:p>
            <a:pPr marL="0" marR="0">
              <a:lnSpc>
                <a:spcPct val="150000"/>
              </a:lnSpc>
              <a:spcBef>
                <a:spcPts val="0"/>
              </a:spcBef>
              <a:spcAft>
                <a:spcPts val="0"/>
              </a:spcAft>
              <a:buNone/>
              <a:tabLst>
                <a:tab pos="571500" algn="l"/>
              </a:tabLst>
            </a:pPr>
            <a:r>
              <a:rPr lang="en-US" dirty="0">
                <a:latin typeface="Times New Roman"/>
                <a:ea typeface="Calibri"/>
              </a:rPr>
              <a:t>Heat flux q= 200 (at inner radius)</a:t>
            </a:r>
          </a:p>
          <a:p>
            <a:pPr marL="0" marR="0">
              <a:lnSpc>
                <a:spcPct val="150000"/>
              </a:lnSpc>
              <a:spcBef>
                <a:spcPts val="0"/>
              </a:spcBef>
              <a:spcAft>
                <a:spcPts val="0"/>
              </a:spcAft>
              <a:buNone/>
              <a:tabLst>
                <a:tab pos="571500" algn="l"/>
              </a:tabLst>
            </a:pPr>
            <a:r>
              <a:rPr lang="en-US" dirty="0">
                <a:latin typeface="Times New Roman"/>
                <a:ea typeface="Calibri"/>
              </a:rPr>
              <a:t>h= 5 &amp; T</a:t>
            </a:r>
            <a:r>
              <a:rPr lang="en-US" dirty="0">
                <a:latin typeface="Times New Roman"/>
                <a:ea typeface="Calibri"/>
                <a:sym typeface="Symbol"/>
              </a:rPr>
              <a:t></a:t>
            </a:r>
            <a:r>
              <a:rPr lang="en-US" dirty="0">
                <a:latin typeface="Times New Roman"/>
                <a:ea typeface="Calibri"/>
              </a:rPr>
              <a:t> = 30 (at outer radius)</a:t>
            </a:r>
          </a:p>
          <a:p>
            <a:pPr marL="0" marR="0">
              <a:lnSpc>
                <a:spcPct val="150000"/>
              </a:lnSpc>
              <a:spcBef>
                <a:spcPts val="0"/>
              </a:spcBef>
              <a:spcAft>
                <a:spcPts val="0"/>
              </a:spcAft>
              <a:buNone/>
              <a:tabLst>
                <a:tab pos="571500" algn="l"/>
              </a:tabLst>
            </a:pPr>
            <a:r>
              <a:rPr lang="en-US" dirty="0">
                <a:latin typeface="Times New Roman"/>
                <a:ea typeface="Calibri"/>
              </a:rPr>
              <a:t>T=0 &amp; T,</a:t>
            </a:r>
            <a:r>
              <a:rPr lang="en-US" dirty="0">
                <a:latin typeface="Times New Roman"/>
                <a:ea typeface="Calibri"/>
                <a:sym typeface="Symbol"/>
              </a:rPr>
              <a:t></a:t>
            </a:r>
            <a:r>
              <a:rPr lang="en-US" dirty="0">
                <a:latin typeface="Times New Roman"/>
                <a:ea typeface="Calibri"/>
              </a:rPr>
              <a:t> = 0 at z=0</a:t>
            </a:r>
          </a:p>
          <a:p>
            <a:pPr marL="0" marR="0">
              <a:lnSpc>
                <a:spcPct val="150000"/>
              </a:lnSpc>
              <a:spcBef>
                <a:spcPts val="0"/>
              </a:spcBef>
              <a:spcAft>
                <a:spcPts val="0"/>
              </a:spcAft>
              <a:buNone/>
              <a:tabLst>
                <a:tab pos="571500" algn="l"/>
              </a:tabLst>
            </a:pPr>
            <a:endParaRPr lang="en-US" b="1" dirty="0">
              <a:latin typeface="Times New Roman"/>
              <a:ea typeface="Calibri"/>
            </a:endParaRPr>
          </a:p>
          <a:p>
            <a:pPr marL="0" marR="0">
              <a:lnSpc>
                <a:spcPct val="150000"/>
              </a:lnSpc>
              <a:spcBef>
                <a:spcPts val="0"/>
              </a:spcBef>
              <a:spcAft>
                <a:spcPts val="0"/>
              </a:spcAft>
              <a:buNone/>
              <a:tabLst>
                <a:tab pos="571500" algn="l"/>
              </a:tabLst>
            </a:pPr>
            <a:r>
              <a:rPr lang="en-US" b="1" dirty="0">
                <a:latin typeface="Times New Roman"/>
                <a:ea typeface="Calibri"/>
              </a:rPr>
              <a:t>Case b:</a:t>
            </a:r>
            <a:endParaRPr lang="en-US" dirty="0">
              <a:latin typeface="Times New Roman"/>
              <a:ea typeface="Calibri"/>
            </a:endParaRPr>
          </a:p>
          <a:p>
            <a:pPr marL="0" marR="0">
              <a:lnSpc>
                <a:spcPct val="150000"/>
              </a:lnSpc>
              <a:spcBef>
                <a:spcPts val="0"/>
              </a:spcBef>
              <a:spcAft>
                <a:spcPts val="0"/>
              </a:spcAft>
              <a:buNone/>
              <a:tabLst>
                <a:tab pos="571500" algn="l"/>
              </a:tabLst>
            </a:pPr>
            <a:r>
              <a:rPr lang="en-US" dirty="0">
                <a:latin typeface="Times New Roman"/>
                <a:ea typeface="Calibri"/>
              </a:rPr>
              <a:t>Heat flux q= 200 (at inner radius)</a:t>
            </a:r>
          </a:p>
          <a:p>
            <a:pPr marL="0" marR="0">
              <a:lnSpc>
                <a:spcPct val="150000"/>
              </a:lnSpc>
              <a:spcBef>
                <a:spcPts val="0"/>
              </a:spcBef>
              <a:spcAft>
                <a:spcPts val="0"/>
              </a:spcAft>
              <a:buNone/>
              <a:tabLst>
                <a:tab pos="571500" algn="l"/>
              </a:tabLst>
            </a:pPr>
            <a:r>
              <a:rPr lang="en-US" dirty="0">
                <a:latin typeface="Times New Roman"/>
                <a:ea typeface="Calibri"/>
              </a:rPr>
              <a:t>h= 5 &amp; T</a:t>
            </a:r>
            <a:r>
              <a:rPr lang="en-US" dirty="0">
                <a:latin typeface="Times New Roman"/>
                <a:ea typeface="Calibri"/>
                <a:sym typeface="Symbol"/>
              </a:rPr>
              <a:t></a:t>
            </a:r>
            <a:r>
              <a:rPr lang="en-US" dirty="0">
                <a:latin typeface="Times New Roman"/>
                <a:ea typeface="Calibri"/>
              </a:rPr>
              <a:t> = 30 (at outer radius)</a:t>
            </a:r>
          </a:p>
          <a:p>
            <a:pPr marL="0" marR="0" algn="just">
              <a:lnSpc>
                <a:spcPct val="150000"/>
              </a:lnSpc>
              <a:spcBef>
                <a:spcPts val="0"/>
              </a:spcBef>
              <a:spcAft>
                <a:spcPts val="0"/>
              </a:spcAft>
              <a:buNone/>
              <a:tabLst>
                <a:tab pos="571500" algn="l"/>
              </a:tabLst>
            </a:pPr>
            <a:r>
              <a:rPr lang="en-US" dirty="0">
                <a:latin typeface="Times New Roman"/>
                <a:ea typeface="Calibri"/>
              </a:rPr>
              <a:t>T=0 at z=0&amp; T,</a:t>
            </a:r>
            <a:r>
              <a:rPr lang="en-US" dirty="0">
                <a:latin typeface="Times New Roman"/>
                <a:ea typeface="Calibri"/>
                <a:sym typeface="Symbol"/>
              </a:rPr>
              <a:t></a:t>
            </a:r>
            <a:r>
              <a:rPr lang="en-US" dirty="0">
                <a:latin typeface="Times New Roman"/>
                <a:ea typeface="Calibri"/>
              </a:rPr>
              <a:t> = 0 at all nodes.</a:t>
            </a:r>
          </a:p>
          <a:p>
            <a:pPr marL="0" marR="0">
              <a:lnSpc>
                <a:spcPct val="150000"/>
              </a:lnSpc>
              <a:spcBef>
                <a:spcPts val="0"/>
              </a:spcBef>
              <a:spcAft>
                <a:spcPts val="0"/>
              </a:spcAft>
              <a:buNone/>
              <a:tabLst>
                <a:tab pos="571500" algn="l"/>
              </a:tabLst>
            </a:pPr>
            <a:endParaRPr lang="en-US" b="1" dirty="0">
              <a:latin typeface="Times New Roman"/>
              <a:ea typeface="Calibri"/>
            </a:endParaRPr>
          </a:p>
          <a:p>
            <a:pPr marL="0" marR="0">
              <a:lnSpc>
                <a:spcPct val="150000"/>
              </a:lnSpc>
              <a:spcBef>
                <a:spcPts val="0"/>
              </a:spcBef>
              <a:spcAft>
                <a:spcPts val="0"/>
              </a:spcAft>
              <a:buNone/>
              <a:tabLst>
                <a:tab pos="571500" algn="l"/>
              </a:tabLst>
            </a:pPr>
            <a:r>
              <a:rPr lang="en-US" b="1" dirty="0">
                <a:latin typeface="Times New Roman"/>
                <a:ea typeface="Calibri"/>
              </a:rPr>
              <a:t>Case c:</a:t>
            </a:r>
            <a:endParaRPr lang="en-US" dirty="0">
              <a:latin typeface="Times New Roman"/>
              <a:ea typeface="Calibri"/>
            </a:endParaRPr>
          </a:p>
          <a:p>
            <a:pPr marL="0" marR="0">
              <a:lnSpc>
                <a:spcPct val="150000"/>
              </a:lnSpc>
              <a:spcBef>
                <a:spcPts val="0"/>
              </a:spcBef>
              <a:spcAft>
                <a:spcPts val="0"/>
              </a:spcAft>
              <a:buNone/>
              <a:tabLst>
                <a:tab pos="571500" algn="l"/>
              </a:tabLst>
            </a:pPr>
            <a:r>
              <a:rPr lang="en-US" dirty="0">
                <a:latin typeface="Times New Roman"/>
                <a:ea typeface="Calibri"/>
              </a:rPr>
              <a:t>Heat flux q= 5 (at inner radius)</a:t>
            </a:r>
          </a:p>
          <a:p>
            <a:pPr marL="0" marR="0">
              <a:lnSpc>
                <a:spcPct val="150000"/>
              </a:lnSpc>
              <a:spcBef>
                <a:spcPts val="0"/>
              </a:spcBef>
              <a:spcAft>
                <a:spcPts val="0"/>
              </a:spcAft>
              <a:buNone/>
              <a:tabLst>
                <a:tab pos="571500" algn="l"/>
              </a:tabLst>
            </a:pPr>
            <a:r>
              <a:rPr lang="en-US" dirty="0">
                <a:latin typeface="Times New Roman"/>
                <a:ea typeface="Calibri"/>
              </a:rPr>
              <a:t>h= 0 (at outer radius)</a:t>
            </a:r>
          </a:p>
          <a:p>
            <a:pPr marL="0" marR="0" algn="just">
              <a:lnSpc>
                <a:spcPct val="150000"/>
              </a:lnSpc>
              <a:spcBef>
                <a:spcPts val="0"/>
              </a:spcBef>
              <a:spcAft>
                <a:spcPts val="0"/>
              </a:spcAft>
              <a:buNone/>
              <a:tabLst>
                <a:tab pos="571500" algn="l"/>
              </a:tabLst>
            </a:pPr>
            <a:r>
              <a:rPr lang="en-US" dirty="0">
                <a:latin typeface="Times New Roman"/>
                <a:ea typeface="Calibri"/>
              </a:rPr>
              <a:t>T=0 &amp; T,</a:t>
            </a:r>
            <a:r>
              <a:rPr lang="en-US" dirty="0">
                <a:latin typeface="Times New Roman"/>
                <a:ea typeface="Calibri"/>
                <a:sym typeface="Symbol"/>
              </a:rPr>
              <a:t></a:t>
            </a:r>
            <a:r>
              <a:rPr lang="en-US" dirty="0">
                <a:latin typeface="Times New Roman"/>
                <a:ea typeface="Calibri"/>
              </a:rPr>
              <a:t> = 0 at z=0</a:t>
            </a:r>
          </a:p>
          <a:p>
            <a:pPr marL="0" marR="0">
              <a:lnSpc>
                <a:spcPct val="150000"/>
              </a:lnSpc>
              <a:spcBef>
                <a:spcPts val="0"/>
              </a:spcBef>
              <a:spcAft>
                <a:spcPts val="0"/>
              </a:spcAft>
              <a:buNone/>
              <a:tabLst>
                <a:tab pos="571500" algn="l"/>
              </a:tabLst>
            </a:pPr>
            <a:endParaRPr lang="en-US" b="1" dirty="0">
              <a:latin typeface="Times New Roman"/>
              <a:ea typeface="Calibri"/>
            </a:endParaRPr>
          </a:p>
          <a:p>
            <a:pPr marL="0" marR="0">
              <a:lnSpc>
                <a:spcPct val="150000"/>
              </a:lnSpc>
              <a:spcBef>
                <a:spcPts val="0"/>
              </a:spcBef>
              <a:spcAft>
                <a:spcPts val="0"/>
              </a:spcAft>
              <a:buNone/>
              <a:tabLst>
                <a:tab pos="571500" algn="l"/>
              </a:tabLst>
            </a:pPr>
            <a:r>
              <a:rPr lang="en-US" b="1" dirty="0">
                <a:latin typeface="Times New Roman"/>
                <a:ea typeface="Calibri"/>
              </a:rPr>
              <a:t>Case d:</a:t>
            </a:r>
            <a:endParaRPr lang="en-US" dirty="0">
              <a:latin typeface="Times New Roman"/>
              <a:ea typeface="Calibri"/>
            </a:endParaRPr>
          </a:p>
          <a:p>
            <a:pPr marL="0" marR="0">
              <a:lnSpc>
                <a:spcPct val="150000"/>
              </a:lnSpc>
              <a:spcBef>
                <a:spcPts val="0"/>
              </a:spcBef>
              <a:spcAft>
                <a:spcPts val="0"/>
              </a:spcAft>
              <a:buNone/>
              <a:tabLst>
                <a:tab pos="571500" algn="l"/>
              </a:tabLst>
            </a:pPr>
            <a:r>
              <a:rPr lang="en-US" dirty="0">
                <a:latin typeface="Times New Roman"/>
                <a:ea typeface="Calibri"/>
              </a:rPr>
              <a:t>Heat flux q= 5 (at inner radius)</a:t>
            </a:r>
          </a:p>
          <a:p>
            <a:pPr marL="0" marR="0">
              <a:lnSpc>
                <a:spcPct val="150000"/>
              </a:lnSpc>
              <a:spcBef>
                <a:spcPts val="0"/>
              </a:spcBef>
              <a:spcAft>
                <a:spcPts val="0"/>
              </a:spcAft>
              <a:buNone/>
              <a:tabLst>
                <a:tab pos="571500" algn="l"/>
              </a:tabLst>
            </a:pPr>
            <a:r>
              <a:rPr lang="en-US" dirty="0">
                <a:latin typeface="Times New Roman"/>
                <a:ea typeface="Calibri"/>
              </a:rPr>
              <a:t>h= 0 (at outer radius)</a:t>
            </a:r>
          </a:p>
          <a:p>
            <a:pPr marL="0" marR="0" algn="just">
              <a:lnSpc>
                <a:spcPct val="150000"/>
              </a:lnSpc>
              <a:spcBef>
                <a:spcPts val="0"/>
              </a:spcBef>
              <a:spcAft>
                <a:spcPts val="0"/>
              </a:spcAft>
              <a:buNone/>
              <a:tabLst>
                <a:tab pos="571500" algn="l"/>
              </a:tabLst>
            </a:pPr>
            <a:r>
              <a:rPr lang="en-US" dirty="0">
                <a:latin typeface="Times New Roman"/>
                <a:ea typeface="Calibri"/>
              </a:rPr>
              <a:t>T=0 at z=0 &amp; T,</a:t>
            </a:r>
            <a:r>
              <a:rPr lang="en-US" dirty="0">
                <a:latin typeface="Times New Roman"/>
                <a:ea typeface="Calibri"/>
                <a:sym typeface="Symbol"/>
              </a:rPr>
              <a:t></a:t>
            </a:r>
            <a:r>
              <a:rPr lang="en-US" dirty="0">
                <a:latin typeface="Times New Roman"/>
                <a:ea typeface="Calibri"/>
              </a:rPr>
              <a:t> = 0 at all nodes.</a:t>
            </a:r>
          </a:p>
          <a:p>
            <a:pPr>
              <a:buNone/>
            </a:pP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Physical model and FEM model</a:t>
            </a:r>
          </a:p>
        </p:txBody>
      </p:sp>
      <p:pic>
        <p:nvPicPr>
          <p:cNvPr id="4" name="Content Placeholder 3" descr="C:\Users\Nirmal\Desktop\Capture.PNG"/>
          <p:cNvPicPr>
            <a:picLocks noGrp="1"/>
          </p:cNvPicPr>
          <p:nvPr>
            <p:ph idx="1"/>
          </p:nvPr>
        </p:nvPicPr>
        <p:blipFill>
          <a:blip r:embed="rId2"/>
          <a:srcRect/>
          <a:stretch>
            <a:fillRect/>
          </a:stretch>
        </p:blipFill>
        <p:spPr bwMode="auto">
          <a:xfrm>
            <a:off x="1981201" y="1600200"/>
            <a:ext cx="4981530" cy="4876800"/>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for shell structure</a:t>
            </a:r>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143000"/>
            <a:ext cx="8229600" cy="1143000"/>
          </a:xfrm>
        </p:spPr>
        <p:txBody>
          <a:bodyPr>
            <a:normAutofit fontScale="90000"/>
          </a:bodyPr>
          <a:lstStyle/>
          <a:p>
            <a:pPr algn="l"/>
            <a:r>
              <a:rPr lang="en-US" sz="3100" dirty="0">
                <a:latin typeface="Times New Roman" pitchFamily="18" charset="0"/>
                <a:cs typeface="Times New Roman" pitchFamily="18" charset="0"/>
              </a:rPr>
              <a:t> 	The thermal results obtained for case ‘a’, is compared with the results from literature and is tabulated.</a:t>
            </a:r>
            <a:br>
              <a:rPr lang="en-US" dirty="0"/>
            </a:br>
            <a:endParaRPr lang="en-US" dirty="0"/>
          </a:p>
        </p:txBody>
      </p:sp>
      <p:graphicFrame>
        <p:nvGraphicFramePr>
          <p:cNvPr id="4" name="Content Placeholder 3"/>
          <p:cNvGraphicFramePr>
            <a:graphicFrameLocks noGrp="1"/>
          </p:cNvGraphicFramePr>
          <p:nvPr>
            <p:ph idx="1"/>
          </p:nvPr>
        </p:nvGraphicFramePr>
        <p:xfrm>
          <a:off x="533400" y="3048000"/>
          <a:ext cx="8229600" cy="14833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pPr marL="0" marR="0" algn="ctr">
                        <a:lnSpc>
                          <a:spcPct val="150000"/>
                        </a:lnSpc>
                        <a:spcBef>
                          <a:spcPts val="0"/>
                        </a:spcBef>
                        <a:spcAft>
                          <a:spcPts val="0"/>
                        </a:spcAft>
                        <a:tabLst>
                          <a:tab pos="685800" algn="l"/>
                        </a:tabLst>
                      </a:pPr>
                      <a:r>
                        <a:rPr lang="en-US" sz="1300" dirty="0">
                          <a:latin typeface="Times New Roman"/>
                          <a:ea typeface="Calibri"/>
                        </a:rPr>
                        <a:t>Radius</a:t>
                      </a:r>
                      <a:endParaRPr lang="en-US" sz="1400" dirty="0">
                        <a:latin typeface="Times New Roman"/>
                        <a:ea typeface="Calibri"/>
                      </a:endParaRPr>
                    </a:p>
                  </a:txBody>
                  <a:tcPr marL="68580" marR="68580" marT="0" marB="0" anchor="ctr"/>
                </a:tc>
                <a:tc>
                  <a:txBody>
                    <a:bodyPr/>
                    <a:lstStyle/>
                    <a:p>
                      <a:pPr marL="0" marR="0" algn="ctr">
                        <a:lnSpc>
                          <a:spcPct val="150000"/>
                        </a:lnSpc>
                        <a:spcBef>
                          <a:spcPts val="0"/>
                        </a:spcBef>
                        <a:spcAft>
                          <a:spcPts val="0"/>
                        </a:spcAft>
                        <a:tabLst>
                          <a:tab pos="685800" algn="l"/>
                        </a:tabLst>
                      </a:pPr>
                      <a:r>
                        <a:rPr lang="en-US" sz="1300">
                          <a:latin typeface="Times New Roman"/>
                          <a:ea typeface="Calibri"/>
                        </a:rPr>
                        <a:t>Temperature (Ref [16])</a:t>
                      </a:r>
                      <a:endParaRPr lang="en-US" sz="1400">
                        <a:latin typeface="Times New Roman"/>
                        <a:ea typeface="Calibri"/>
                      </a:endParaRPr>
                    </a:p>
                  </a:txBody>
                  <a:tcPr marL="68580" marR="68580" marT="0" marB="0" anchor="ctr"/>
                </a:tc>
                <a:tc>
                  <a:txBody>
                    <a:bodyPr/>
                    <a:lstStyle/>
                    <a:p>
                      <a:pPr marL="0" marR="0" algn="ctr">
                        <a:lnSpc>
                          <a:spcPct val="150000"/>
                        </a:lnSpc>
                        <a:spcBef>
                          <a:spcPts val="0"/>
                        </a:spcBef>
                        <a:spcAft>
                          <a:spcPts val="0"/>
                        </a:spcAft>
                        <a:tabLst>
                          <a:tab pos="685800" algn="l"/>
                        </a:tabLst>
                      </a:pPr>
                      <a:r>
                        <a:rPr lang="en-US" sz="1300">
                          <a:latin typeface="Times New Roman"/>
                          <a:ea typeface="Calibri"/>
                        </a:rPr>
                        <a:t>FEM model output</a:t>
                      </a:r>
                      <a:endParaRPr lang="en-US" sz="1400">
                        <a:latin typeface="Times New Roman"/>
                        <a:ea typeface="Calibri"/>
                      </a:endParaRPr>
                    </a:p>
                  </a:txBody>
                  <a:tcPr marL="68580" marR="68580" marT="0" marB="0" anchor="ctr"/>
                </a:tc>
                <a:extLst>
                  <a:ext uri="{0D108BD9-81ED-4DB2-BD59-A6C34878D82A}">
                    <a16:rowId xmlns:a16="http://schemas.microsoft.com/office/drawing/2014/main" val="10000"/>
                  </a:ext>
                </a:extLst>
              </a:tr>
              <a:tr h="370840">
                <a:tc>
                  <a:txBody>
                    <a:bodyPr/>
                    <a:lstStyle/>
                    <a:p>
                      <a:pPr marL="0" marR="0" algn="ctr">
                        <a:lnSpc>
                          <a:spcPct val="150000"/>
                        </a:lnSpc>
                        <a:spcBef>
                          <a:spcPts val="0"/>
                        </a:spcBef>
                        <a:spcAft>
                          <a:spcPts val="0"/>
                        </a:spcAft>
                        <a:tabLst>
                          <a:tab pos="685800" algn="l"/>
                        </a:tabLst>
                      </a:pPr>
                      <a:r>
                        <a:rPr lang="en-US" sz="1300">
                          <a:latin typeface="Times New Roman"/>
                          <a:ea typeface="Calibri"/>
                        </a:rPr>
                        <a:t>10.00</a:t>
                      </a:r>
                      <a:endParaRPr lang="en-US" sz="1400">
                        <a:latin typeface="Times New Roman"/>
                        <a:ea typeface="Calibri"/>
                      </a:endParaRPr>
                    </a:p>
                  </a:txBody>
                  <a:tcPr marL="68580" marR="68580" marT="0" marB="0" anchor="ctr"/>
                </a:tc>
                <a:tc>
                  <a:txBody>
                    <a:bodyPr/>
                    <a:lstStyle/>
                    <a:p>
                      <a:pPr marL="0" marR="0" algn="ctr">
                        <a:lnSpc>
                          <a:spcPct val="150000"/>
                        </a:lnSpc>
                        <a:spcBef>
                          <a:spcPts val="0"/>
                        </a:spcBef>
                        <a:spcAft>
                          <a:spcPts val="0"/>
                        </a:spcAft>
                        <a:tabLst>
                          <a:tab pos="685800" algn="l"/>
                        </a:tabLst>
                      </a:pPr>
                      <a:r>
                        <a:rPr lang="en-US" sz="1300">
                          <a:latin typeface="Times New Roman"/>
                          <a:ea typeface="Calibri"/>
                        </a:rPr>
                        <a:t>94.61</a:t>
                      </a:r>
                      <a:endParaRPr lang="en-US" sz="1400">
                        <a:latin typeface="Times New Roman"/>
                        <a:ea typeface="Calibri"/>
                      </a:endParaRPr>
                    </a:p>
                  </a:txBody>
                  <a:tcPr marL="68580" marR="68580" marT="0" marB="0" anchor="ctr"/>
                </a:tc>
                <a:tc>
                  <a:txBody>
                    <a:bodyPr/>
                    <a:lstStyle/>
                    <a:p>
                      <a:pPr marL="0" marR="0" algn="ctr">
                        <a:lnSpc>
                          <a:spcPct val="150000"/>
                        </a:lnSpc>
                        <a:spcBef>
                          <a:spcPts val="0"/>
                        </a:spcBef>
                        <a:spcAft>
                          <a:spcPts val="0"/>
                        </a:spcAft>
                        <a:tabLst>
                          <a:tab pos="685800" algn="l"/>
                        </a:tabLst>
                      </a:pPr>
                      <a:r>
                        <a:rPr lang="en-US" sz="1300">
                          <a:latin typeface="Times New Roman"/>
                          <a:ea typeface="Calibri"/>
                        </a:rPr>
                        <a:t>91.37</a:t>
                      </a:r>
                      <a:endParaRPr lang="en-US" sz="1400">
                        <a:latin typeface="Times New Roman"/>
                        <a:ea typeface="Calibri"/>
                      </a:endParaRPr>
                    </a:p>
                  </a:txBody>
                  <a:tcPr marL="68580" marR="68580" marT="0" marB="0" anchor="ctr"/>
                </a:tc>
                <a:extLst>
                  <a:ext uri="{0D108BD9-81ED-4DB2-BD59-A6C34878D82A}">
                    <a16:rowId xmlns:a16="http://schemas.microsoft.com/office/drawing/2014/main" val="10001"/>
                  </a:ext>
                </a:extLst>
              </a:tr>
              <a:tr h="370840">
                <a:tc>
                  <a:txBody>
                    <a:bodyPr/>
                    <a:lstStyle/>
                    <a:p>
                      <a:pPr marL="0" marR="0" algn="ctr">
                        <a:lnSpc>
                          <a:spcPct val="150000"/>
                        </a:lnSpc>
                        <a:spcBef>
                          <a:spcPts val="0"/>
                        </a:spcBef>
                        <a:spcAft>
                          <a:spcPts val="0"/>
                        </a:spcAft>
                        <a:tabLst>
                          <a:tab pos="685800" algn="l"/>
                        </a:tabLst>
                      </a:pPr>
                      <a:r>
                        <a:rPr lang="en-US" sz="1300">
                          <a:latin typeface="Times New Roman"/>
                          <a:ea typeface="Calibri"/>
                        </a:rPr>
                        <a:t>10.20</a:t>
                      </a:r>
                      <a:endParaRPr lang="en-US" sz="1400">
                        <a:latin typeface="Times New Roman"/>
                        <a:ea typeface="Calibri"/>
                      </a:endParaRPr>
                    </a:p>
                  </a:txBody>
                  <a:tcPr marL="68580" marR="68580" marT="0" marB="0" anchor="ctr"/>
                </a:tc>
                <a:tc>
                  <a:txBody>
                    <a:bodyPr/>
                    <a:lstStyle/>
                    <a:p>
                      <a:pPr marL="0" marR="0" algn="ctr">
                        <a:lnSpc>
                          <a:spcPct val="150000"/>
                        </a:lnSpc>
                        <a:spcBef>
                          <a:spcPts val="0"/>
                        </a:spcBef>
                        <a:spcAft>
                          <a:spcPts val="0"/>
                        </a:spcAft>
                        <a:tabLst>
                          <a:tab pos="685800" algn="l"/>
                        </a:tabLst>
                      </a:pPr>
                      <a:r>
                        <a:rPr lang="en-US" sz="1300">
                          <a:latin typeface="Times New Roman"/>
                          <a:ea typeface="Calibri"/>
                        </a:rPr>
                        <a:t>81.41</a:t>
                      </a:r>
                      <a:endParaRPr lang="en-US" sz="1400">
                        <a:latin typeface="Times New Roman"/>
                        <a:ea typeface="Calibri"/>
                      </a:endParaRPr>
                    </a:p>
                  </a:txBody>
                  <a:tcPr marL="68580" marR="68580" marT="0" marB="0" anchor="ctr"/>
                </a:tc>
                <a:tc>
                  <a:txBody>
                    <a:bodyPr/>
                    <a:lstStyle/>
                    <a:p>
                      <a:pPr marL="0" marR="0" algn="ctr">
                        <a:lnSpc>
                          <a:spcPct val="150000"/>
                        </a:lnSpc>
                        <a:spcBef>
                          <a:spcPts val="0"/>
                        </a:spcBef>
                        <a:spcAft>
                          <a:spcPts val="0"/>
                        </a:spcAft>
                        <a:tabLst>
                          <a:tab pos="685800" algn="l"/>
                        </a:tabLst>
                      </a:pPr>
                      <a:r>
                        <a:rPr lang="en-US" sz="1300">
                          <a:latin typeface="Times New Roman"/>
                          <a:ea typeface="Calibri"/>
                        </a:rPr>
                        <a:t>80.66</a:t>
                      </a:r>
                      <a:endParaRPr lang="en-US" sz="1400">
                        <a:latin typeface="Times New Roman"/>
                        <a:ea typeface="Calibri"/>
                      </a:endParaRPr>
                    </a:p>
                  </a:txBody>
                  <a:tcPr marL="68580" marR="68580" marT="0" marB="0" anchor="ctr"/>
                </a:tc>
                <a:extLst>
                  <a:ext uri="{0D108BD9-81ED-4DB2-BD59-A6C34878D82A}">
                    <a16:rowId xmlns:a16="http://schemas.microsoft.com/office/drawing/2014/main" val="10002"/>
                  </a:ext>
                </a:extLst>
              </a:tr>
              <a:tr h="370840">
                <a:tc>
                  <a:txBody>
                    <a:bodyPr/>
                    <a:lstStyle/>
                    <a:p>
                      <a:pPr marL="0" marR="0" algn="ctr">
                        <a:lnSpc>
                          <a:spcPct val="150000"/>
                        </a:lnSpc>
                        <a:spcBef>
                          <a:spcPts val="0"/>
                        </a:spcBef>
                        <a:spcAft>
                          <a:spcPts val="0"/>
                        </a:spcAft>
                        <a:tabLst>
                          <a:tab pos="685800" algn="l"/>
                        </a:tabLst>
                      </a:pPr>
                      <a:r>
                        <a:rPr lang="en-US" sz="1300" dirty="0">
                          <a:latin typeface="Times New Roman"/>
                          <a:ea typeface="Calibri"/>
                        </a:rPr>
                        <a:t>10.40</a:t>
                      </a:r>
                      <a:endParaRPr lang="en-US" sz="1400" dirty="0">
                        <a:latin typeface="Times New Roman"/>
                        <a:ea typeface="Calibri"/>
                      </a:endParaRPr>
                    </a:p>
                  </a:txBody>
                  <a:tcPr marL="68580" marR="68580" marT="0" marB="0" anchor="ctr"/>
                </a:tc>
                <a:tc>
                  <a:txBody>
                    <a:bodyPr/>
                    <a:lstStyle/>
                    <a:p>
                      <a:pPr marL="0" marR="0" algn="ctr">
                        <a:lnSpc>
                          <a:spcPct val="150000"/>
                        </a:lnSpc>
                        <a:spcBef>
                          <a:spcPts val="0"/>
                        </a:spcBef>
                        <a:spcAft>
                          <a:spcPts val="0"/>
                        </a:spcAft>
                        <a:tabLst>
                          <a:tab pos="685800" algn="l"/>
                        </a:tabLst>
                      </a:pPr>
                      <a:r>
                        <a:rPr lang="en-US" sz="1300">
                          <a:latin typeface="Times New Roman"/>
                          <a:ea typeface="Calibri"/>
                        </a:rPr>
                        <a:t>68.46</a:t>
                      </a:r>
                      <a:endParaRPr lang="en-US" sz="1400">
                        <a:latin typeface="Times New Roman"/>
                        <a:ea typeface="Calibri"/>
                      </a:endParaRPr>
                    </a:p>
                  </a:txBody>
                  <a:tcPr marL="68580" marR="68580" marT="0" marB="0" anchor="ctr"/>
                </a:tc>
                <a:tc>
                  <a:txBody>
                    <a:bodyPr/>
                    <a:lstStyle/>
                    <a:p>
                      <a:pPr marL="0" marR="0" algn="ctr">
                        <a:lnSpc>
                          <a:spcPct val="150000"/>
                        </a:lnSpc>
                        <a:spcBef>
                          <a:spcPts val="0"/>
                        </a:spcBef>
                        <a:spcAft>
                          <a:spcPts val="0"/>
                        </a:spcAft>
                        <a:tabLst>
                          <a:tab pos="685800" algn="l"/>
                        </a:tabLst>
                      </a:pPr>
                      <a:r>
                        <a:rPr lang="en-US" sz="1300" dirty="0">
                          <a:latin typeface="Times New Roman"/>
                          <a:ea typeface="Calibri"/>
                        </a:rPr>
                        <a:t>69.21</a:t>
                      </a:r>
                      <a:endParaRPr lang="en-US" sz="1400" dirty="0">
                        <a:latin typeface="Times New Roman"/>
                        <a:ea typeface="Calibri"/>
                      </a:endParaRPr>
                    </a:p>
                  </a:txBody>
                  <a:tcPr marL="68580" marR="68580" marT="0" marB="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FINITE ELEMENT ANALYSIS OF FGM STRUCTURES</a:t>
            </a:r>
            <a:br>
              <a:rPr lang="en-US" sz="2400" dirty="0"/>
            </a:br>
            <a:endParaRPr lang="en-US" sz="2400" dirty="0"/>
          </a:p>
        </p:txBody>
      </p:sp>
      <p:sp>
        <p:nvSpPr>
          <p:cNvPr id="3" name="Content Placeholder 2"/>
          <p:cNvSpPr>
            <a:spLocks noGrp="1"/>
          </p:cNvSpPr>
          <p:nvPr>
            <p:ph idx="1"/>
          </p:nvPr>
        </p:nvSpPr>
        <p:spPr/>
        <p:txBody>
          <a:bodyPr/>
          <a:lstStyle/>
          <a:p>
            <a:pPr>
              <a:buNone/>
            </a:pPr>
            <a:r>
              <a:rPr lang="en-US" b="1" dirty="0"/>
              <a:t>Case 1:       Top: Aluminium     Bottom: Zircon</a:t>
            </a:r>
            <a:endParaRPr lang="en-US" dirty="0"/>
          </a:p>
          <a:p>
            <a:pPr>
              <a:buNone/>
            </a:pPr>
            <a:endParaRPr lang="en-US" dirty="0"/>
          </a:p>
        </p:txBody>
      </p:sp>
      <p:graphicFrame>
        <p:nvGraphicFramePr>
          <p:cNvPr id="4" name="Chart 3"/>
          <p:cNvGraphicFramePr/>
          <p:nvPr/>
        </p:nvGraphicFramePr>
        <p:xfrm>
          <a:off x="1905000" y="2362200"/>
          <a:ext cx="4776787" cy="32766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35563"/>
          </a:xfrm>
        </p:spPr>
        <p:txBody>
          <a:bodyPr/>
          <a:lstStyle/>
          <a:p>
            <a:pPr>
              <a:buNone/>
            </a:pPr>
            <a:r>
              <a:rPr lang="en-US" b="1" dirty="0"/>
              <a:t>Case 2:       Top: Zircon        Bottom: Aluminium</a:t>
            </a:r>
          </a:p>
          <a:p>
            <a:pPr>
              <a:buNone/>
            </a:pPr>
            <a:endParaRPr lang="en-US" dirty="0"/>
          </a:p>
          <a:p>
            <a:pPr>
              <a:buNone/>
            </a:pPr>
            <a:endParaRPr lang="en-US" dirty="0"/>
          </a:p>
        </p:txBody>
      </p:sp>
      <p:graphicFrame>
        <p:nvGraphicFramePr>
          <p:cNvPr id="4" name="Chart 3"/>
          <p:cNvGraphicFramePr/>
          <p:nvPr/>
        </p:nvGraphicFramePr>
        <p:xfrm>
          <a:off x="1447800" y="2133601"/>
          <a:ext cx="5424487" cy="36576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971800"/>
            <a:ext cx="8229600" cy="1143000"/>
          </a:xfrm>
        </p:spPr>
        <p:txBody>
          <a:bodyPr/>
          <a:lstStyle/>
          <a:p>
            <a:r>
              <a:rPr lang="en-US" dirty="0">
                <a:latin typeface="Times New Roman" pitchFamily="18" charset="0"/>
                <a:cs typeface="Times New Roman" pitchFamily="18" charset="0"/>
              </a:rPr>
              <a:t>Thank you</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1350</TotalTime>
  <Words>1786</Words>
  <Application>Microsoft Office PowerPoint</Application>
  <PresentationFormat>On-screen Show (4:3)</PresentationFormat>
  <Paragraphs>207</Paragraphs>
  <Slides>50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Times New Roman</vt:lpstr>
      <vt:lpstr>Wingdings</vt:lpstr>
      <vt:lpstr>1_Office Theme</vt:lpstr>
      <vt:lpstr>Integrated thermo structural analysis of Advanced composite structures</vt:lpstr>
      <vt:lpstr>OBJECTIVE </vt:lpstr>
      <vt:lpstr>INTRODUCTION</vt:lpstr>
      <vt:lpstr>Research gap</vt:lpstr>
      <vt:lpstr>Scope of the project</vt:lpstr>
      <vt:lpstr>Functionally Graded Materials</vt:lpstr>
      <vt:lpstr>FGM vs Composites</vt:lpstr>
      <vt:lpstr>Material Composition Variation in FGM</vt:lpstr>
      <vt:lpstr>FGM Model</vt:lpstr>
      <vt:lpstr>Literature Survey: Numerical analysis of plates and shells</vt:lpstr>
      <vt:lpstr>PowerPoint Presentation</vt:lpstr>
      <vt:lpstr>PowerPoint Presentation</vt:lpstr>
      <vt:lpstr>Research Methodology</vt:lpstr>
      <vt:lpstr>Expected output</vt:lpstr>
      <vt:lpstr>Formulation</vt:lpstr>
      <vt:lpstr>Modeling: Thermal System</vt:lpstr>
      <vt:lpstr>PowerPoint Presentation</vt:lpstr>
      <vt:lpstr>PowerPoint Presentation</vt:lpstr>
      <vt:lpstr>Degenerated shell Element</vt:lpstr>
      <vt:lpstr>Shape function of Degenerated Element</vt:lpstr>
      <vt:lpstr>PowerPoint Presentation</vt:lpstr>
      <vt:lpstr>Shell Element</vt:lpstr>
      <vt:lpstr>Shell Element</vt:lpstr>
      <vt:lpstr>Lagrange Polynomial for temperature variation along the shell thickness:</vt:lpstr>
      <vt:lpstr>Shell Element</vt:lpstr>
      <vt:lpstr>PowerPoint Presentation</vt:lpstr>
      <vt:lpstr>PowerPoint Presentation</vt:lpstr>
      <vt:lpstr>Final equations to be solved</vt:lpstr>
      <vt:lpstr>Modeling material properties</vt:lpstr>
      <vt:lpstr>Exact integration scheme</vt:lpstr>
      <vt:lpstr>PowerPoint Presentation</vt:lpstr>
      <vt:lpstr>Thermo structural analysis</vt:lpstr>
      <vt:lpstr>PowerPoint Presentation</vt:lpstr>
      <vt:lpstr>Solution Methodology </vt:lpstr>
      <vt:lpstr>PowerPoint Presentation</vt:lpstr>
      <vt:lpstr>Validation of code</vt:lpstr>
      <vt:lpstr>Finite element model</vt:lpstr>
      <vt:lpstr>PowerPoint Presentation</vt:lpstr>
      <vt:lpstr>Material property considered</vt:lpstr>
      <vt:lpstr>PowerPoint Presentation</vt:lpstr>
      <vt:lpstr>Results for Aluminium plate</vt:lpstr>
      <vt:lpstr>Results for Zircon plate</vt:lpstr>
      <vt:lpstr>Analysis of Shell Structure</vt:lpstr>
      <vt:lpstr>PowerPoint Presentation</vt:lpstr>
      <vt:lpstr>Physical model and FEM model</vt:lpstr>
      <vt:lpstr>Results for shell structure</vt:lpstr>
      <vt:lpstr>  The thermal results obtained for case ‘a’, is compared with the results from literature and is tabulated. </vt:lpstr>
      <vt:lpstr>FINITE ELEMENT ANALYSIS OF FGM STRUCTURES </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Integrated thermal structural analysis of advanced composite materials</dc:title>
  <dc:creator>Nirmal</dc:creator>
  <cp:lastModifiedBy>Nirmal Kumar D</cp:lastModifiedBy>
  <cp:revision>42</cp:revision>
  <dcterms:created xsi:type="dcterms:W3CDTF">2018-07-12T02:26:27Z</dcterms:created>
  <dcterms:modified xsi:type="dcterms:W3CDTF">2025-05-20T19:26:52Z</dcterms:modified>
</cp:coreProperties>
</file>